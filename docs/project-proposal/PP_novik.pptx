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271" r:id="rId5"/>
    <p:sldId id="286" r:id="rId6"/>
    <p:sldId id="301" r:id="rId7"/>
    <p:sldId id="302" r:id="rId8"/>
    <p:sldId id="303" r:id="rId9"/>
    <p:sldId id="304" r:id="rId10"/>
    <p:sldId id="305" r:id="rId11"/>
    <p:sldId id="306" r:id="rId12"/>
    <p:sldId id="311" r:id="rId13"/>
    <p:sldId id="307" r:id="rId14"/>
    <p:sldId id="308" r:id="rId15"/>
    <p:sldId id="312" r:id="rId16"/>
    <p:sldId id="309" r:id="rId17"/>
    <p:sldId id="310" r:id="rId18"/>
    <p:sldId id="300" r:id="rId19"/>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C68"/>
    <a:srgbClr val="029C63"/>
    <a:srgbClr val="234A9B"/>
    <a:srgbClr val="EEF0F4"/>
    <a:srgbClr val="CDDDF0"/>
    <a:srgbClr val="E61F3D"/>
    <a:srgbClr val="11A0D7"/>
    <a:srgbClr val="7D4EBA"/>
    <a:srgbClr val="EB681F"/>
    <a:srgbClr val="FBB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38" autoAdjust="0"/>
    <p:restoredTop sz="85994" autoAdjust="0"/>
  </p:normalViewPr>
  <p:slideViewPr>
    <p:cSldViewPr snapToGrid="0" snapToObjects="1">
      <p:cViewPr varScale="1">
        <p:scale>
          <a:sx n="102" d="100"/>
          <a:sy n="102" d="100"/>
        </p:scale>
        <p:origin x="216" y="176"/>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5029AC-3A5A-8D4C-8B16-81CDC7D09DC9}" type="doc">
      <dgm:prSet loTypeId="urn:microsoft.com/office/officeart/2005/8/layout/process1" loCatId="" qsTypeId="urn:microsoft.com/office/officeart/2005/8/quickstyle/simple1" qsCatId="simple" csTypeId="urn:microsoft.com/office/officeart/2005/8/colors/accent1_2" csCatId="accent1" phldr="1"/>
      <dgm:spPr/>
    </dgm:pt>
    <dgm:pt modelId="{4B036930-C858-494C-9EFF-4D094F50D37D}">
      <dgm:prSet phldrT="[Text]"/>
      <dgm:spPr/>
      <dgm:t>
        <a:bodyPr/>
        <a:lstStyle/>
        <a:p>
          <a:pPr>
            <a:buFont typeface="Arial" panose="020B0604020202020204" pitchFamily="34" charset="0"/>
            <a:buChar char="•"/>
          </a:pPr>
          <a:r>
            <a:rPr lang="en-US" dirty="0"/>
            <a:t>Sign in</a:t>
          </a:r>
          <a:endParaRPr lang="en-GB" dirty="0"/>
        </a:p>
      </dgm:t>
    </dgm:pt>
    <dgm:pt modelId="{68D78E42-B6DA-C044-B806-7C7EBB714B5B}" type="parTrans" cxnId="{376E4A16-D169-5B43-A1FB-152EE1021A63}">
      <dgm:prSet/>
      <dgm:spPr/>
      <dgm:t>
        <a:bodyPr/>
        <a:lstStyle/>
        <a:p>
          <a:endParaRPr lang="en-GB"/>
        </a:p>
      </dgm:t>
    </dgm:pt>
    <dgm:pt modelId="{50C1BF16-2181-3345-8E0D-F29AF5992B51}" type="sibTrans" cxnId="{376E4A16-D169-5B43-A1FB-152EE1021A63}">
      <dgm:prSet/>
      <dgm:spPr/>
      <dgm:t>
        <a:bodyPr/>
        <a:lstStyle/>
        <a:p>
          <a:endParaRPr lang="en-GB"/>
        </a:p>
      </dgm:t>
    </dgm:pt>
    <dgm:pt modelId="{5F4153A4-7602-1841-BF72-322BC7E2BB00}">
      <dgm:prSet/>
      <dgm:spPr/>
      <dgm:t>
        <a:bodyPr/>
        <a:lstStyle/>
        <a:p>
          <a:r>
            <a:rPr lang="en-US"/>
            <a:t>Create trip</a:t>
          </a:r>
          <a:endParaRPr lang="en-US" dirty="0"/>
        </a:p>
      </dgm:t>
    </dgm:pt>
    <dgm:pt modelId="{5A1F9BCE-133E-E146-B5E1-76FDDF456D0E}" type="parTrans" cxnId="{B4DA7DC1-F68C-4D41-831B-0C47F70CCD20}">
      <dgm:prSet/>
      <dgm:spPr/>
      <dgm:t>
        <a:bodyPr/>
        <a:lstStyle/>
        <a:p>
          <a:endParaRPr lang="en-GB"/>
        </a:p>
      </dgm:t>
    </dgm:pt>
    <dgm:pt modelId="{A6A504FD-9F29-E046-B859-BF6F58C24E99}" type="sibTrans" cxnId="{B4DA7DC1-F68C-4D41-831B-0C47F70CCD20}">
      <dgm:prSet/>
      <dgm:spPr/>
      <dgm:t>
        <a:bodyPr/>
        <a:lstStyle/>
        <a:p>
          <a:endParaRPr lang="en-GB"/>
        </a:p>
      </dgm:t>
    </dgm:pt>
    <dgm:pt modelId="{E2754A99-D2E7-AD42-8806-AF4B688CA674}">
      <dgm:prSet/>
      <dgm:spPr/>
      <dgm:t>
        <a:bodyPr/>
        <a:lstStyle/>
        <a:p>
          <a:r>
            <a:rPr lang="en-US"/>
            <a:t>Invite members</a:t>
          </a:r>
          <a:endParaRPr lang="en-US" dirty="0"/>
        </a:p>
      </dgm:t>
    </dgm:pt>
    <dgm:pt modelId="{967AD9DA-DCAA-034B-8D22-74FDAF6E5CC2}" type="parTrans" cxnId="{C79498E7-3DA4-B641-8D96-EB6E5A622BA3}">
      <dgm:prSet/>
      <dgm:spPr/>
      <dgm:t>
        <a:bodyPr/>
        <a:lstStyle/>
        <a:p>
          <a:endParaRPr lang="en-GB"/>
        </a:p>
      </dgm:t>
    </dgm:pt>
    <dgm:pt modelId="{B3D256CC-86CB-0D49-9D07-967ED46A42CC}" type="sibTrans" cxnId="{C79498E7-3DA4-B641-8D96-EB6E5A622BA3}">
      <dgm:prSet/>
      <dgm:spPr/>
      <dgm:t>
        <a:bodyPr/>
        <a:lstStyle/>
        <a:p>
          <a:endParaRPr lang="en-GB"/>
        </a:p>
      </dgm:t>
    </dgm:pt>
    <dgm:pt modelId="{D0CCEF9E-DE55-6B4B-93CD-4B3E9DF2E43F}">
      <dgm:prSet/>
      <dgm:spPr/>
      <dgm:t>
        <a:bodyPr/>
        <a:lstStyle/>
        <a:p>
          <a:r>
            <a:rPr lang="en-US"/>
            <a:t>Collect ideas + comments</a:t>
          </a:r>
          <a:endParaRPr lang="en-US" dirty="0"/>
        </a:p>
      </dgm:t>
    </dgm:pt>
    <dgm:pt modelId="{D34B33B3-D2EA-AD4D-914F-FEDB22E0B5A5}" type="parTrans" cxnId="{9A2CC45D-0E6F-8748-B335-B1F8C25FFE38}">
      <dgm:prSet/>
      <dgm:spPr/>
      <dgm:t>
        <a:bodyPr/>
        <a:lstStyle/>
        <a:p>
          <a:endParaRPr lang="en-GB"/>
        </a:p>
      </dgm:t>
    </dgm:pt>
    <dgm:pt modelId="{689291EE-F267-CA46-B233-29FE030215AA}" type="sibTrans" cxnId="{9A2CC45D-0E6F-8748-B335-B1F8C25FFE38}">
      <dgm:prSet/>
      <dgm:spPr/>
      <dgm:t>
        <a:bodyPr/>
        <a:lstStyle/>
        <a:p>
          <a:endParaRPr lang="en-GB"/>
        </a:p>
      </dgm:t>
    </dgm:pt>
    <dgm:pt modelId="{061BE604-E875-CE4A-A43D-0F13CFD6F859}">
      <dgm:prSet/>
      <dgm:spPr/>
      <dgm:t>
        <a:bodyPr/>
        <a:lstStyle/>
        <a:p>
          <a:r>
            <a:rPr lang="en-US" dirty="0"/>
            <a:t>Build itinerary by days</a:t>
          </a:r>
        </a:p>
      </dgm:t>
    </dgm:pt>
    <dgm:pt modelId="{2B6FE438-E544-C44A-B235-2583EF65DAD0}" type="parTrans" cxnId="{437A8099-05B9-9A42-9D45-0CF7B752DD85}">
      <dgm:prSet/>
      <dgm:spPr/>
      <dgm:t>
        <a:bodyPr/>
        <a:lstStyle/>
        <a:p>
          <a:endParaRPr lang="en-GB"/>
        </a:p>
      </dgm:t>
    </dgm:pt>
    <dgm:pt modelId="{8E0D1ABE-770F-8040-BF13-91CBF450537E}" type="sibTrans" cxnId="{437A8099-05B9-9A42-9D45-0CF7B752DD85}">
      <dgm:prSet/>
      <dgm:spPr/>
      <dgm:t>
        <a:bodyPr/>
        <a:lstStyle/>
        <a:p>
          <a:endParaRPr lang="en-GB"/>
        </a:p>
      </dgm:t>
    </dgm:pt>
    <dgm:pt modelId="{0A836136-FE73-EA42-996A-9E7BCDC553D9}">
      <dgm:prSet/>
      <dgm:spPr/>
      <dgm:t>
        <a:bodyPr/>
        <a:lstStyle/>
        <a:p>
          <a:r>
            <a:rPr lang="en-US" dirty="0"/>
            <a:t>Track shared expenses</a:t>
          </a:r>
        </a:p>
      </dgm:t>
    </dgm:pt>
    <dgm:pt modelId="{F369AF3A-E376-BB4A-AF5F-1956FEA0252C}" type="parTrans" cxnId="{813DF3AA-A998-8945-B37A-EA1379D7F943}">
      <dgm:prSet/>
      <dgm:spPr/>
      <dgm:t>
        <a:bodyPr/>
        <a:lstStyle/>
        <a:p>
          <a:endParaRPr lang="en-GB"/>
        </a:p>
      </dgm:t>
    </dgm:pt>
    <dgm:pt modelId="{00BCEEC0-FB8E-5E42-97A9-A227CCFC515E}" type="sibTrans" cxnId="{813DF3AA-A998-8945-B37A-EA1379D7F943}">
      <dgm:prSet/>
      <dgm:spPr/>
      <dgm:t>
        <a:bodyPr/>
        <a:lstStyle/>
        <a:p>
          <a:endParaRPr lang="en-GB"/>
        </a:p>
      </dgm:t>
    </dgm:pt>
    <dgm:pt modelId="{6B5E75BA-05F4-5141-B955-2CDA2B3EF43E}">
      <dgm:prSet/>
      <dgm:spPr/>
      <dgm:t>
        <a:bodyPr/>
        <a:lstStyle/>
        <a:p>
          <a:r>
            <a:rPr lang="en-US"/>
            <a:t>Weather</a:t>
          </a:r>
          <a:endParaRPr lang="en-US" dirty="0"/>
        </a:p>
      </dgm:t>
    </dgm:pt>
    <dgm:pt modelId="{8C68B2CC-9BF0-4C47-9123-5CDFF5AA2113}" type="parTrans" cxnId="{B4E50528-C490-0E4F-8533-5F6418AB922E}">
      <dgm:prSet/>
      <dgm:spPr/>
      <dgm:t>
        <a:bodyPr/>
        <a:lstStyle/>
        <a:p>
          <a:endParaRPr lang="en-GB"/>
        </a:p>
      </dgm:t>
    </dgm:pt>
    <dgm:pt modelId="{055FCA49-4B97-B848-B86C-25C9F4BCB82B}" type="sibTrans" cxnId="{B4E50528-C490-0E4F-8533-5F6418AB922E}">
      <dgm:prSet/>
      <dgm:spPr/>
      <dgm:t>
        <a:bodyPr/>
        <a:lstStyle/>
        <a:p>
          <a:endParaRPr lang="en-GB"/>
        </a:p>
      </dgm:t>
    </dgm:pt>
    <dgm:pt modelId="{9ECB3B72-F010-EA4C-BFA0-571191F95DA9}">
      <dgm:prSet/>
      <dgm:spPr/>
      <dgm:t>
        <a:bodyPr/>
        <a:lstStyle/>
        <a:p>
          <a:r>
            <a:rPr lang="en-US"/>
            <a:t>AI suggestions</a:t>
          </a:r>
          <a:endParaRPr lang="en-US" dirty="0"/>
        </a:p>
      </dgm:t>
    </dgm:pt>
    <dgm:pt modelId="{CC03C61C-A168-C44E-9CEF-9E6F1C315EEE}" type="parTrans" cxnId="{E7EA60D6-382A-3A46-B636-B56C9F11374B}">
      <dgm:prSet/>
      <dgm:spPr/>
      <dgm:t>
        <a:bodyPr/>
        <a:lstStyle/>
        <a:p>
          <a:endParaRPr lang="en-GB"/>
        </a:p>
      </dgm:t>
    </dgm:pt>
    <dgm:pt modelId="{930603DD-D866-FC4B-B125-8C59698BE178}" type="sibTrans" cxnId="{E7EA60D6-382A-3A46-B636-B56C9F11374B}">
      <dgm:prSet/>
      <dgm:spPr/>
      <dgm:t>
        <a:bodyPr/>
        <a:lstStyle/>
        <a:p>
          <a:endParaRPr lang="en-GB"/>
        </a:p>
      </dgm:t>
    </dgm:pt>
    <dgm:pt modelId="{7823FDD2-30D1-1640-B921-3286A6C4E28D}">
      <dgm:prSet/>
      <dgm:spPr/>
      <dgm:t>
        <a:bodyPr/>
        <a:lstStyle/>
        <a:p>
          <a:r>
            <a:rPr lang="en-US" dirty="0"/>
            <a:t>Offline sync</a:t>
          </a:r>
        </a:p>
      </dgm:t>
    </dgm:pt>
    <dgm:pt modelId="{E4F23B28-4B05-D041-910B-559187F25505}" type="parTrans" cxnId="{1CBE52A7-29BD-D643-88FA-728FC851EF3F}">
      <dgm:prSet/>
      <dgm:spPr/>
      <dgm:t>
        <a:bodyPr/>
        <a:lstStyle/>
        <a:p>
          <a:endParaRPr lang="en-GB"/>
        </a:p>
      </dgm:t>
    </dgm:pt>
    <dgm:pt modelId="{6AB80E39-924F-FA47-AD77-B289265206E8}" type="sibTrans" cxnId="{1CBE52A7-29BD-D643-88FA-728FC851EF3F}">
      <dgm:prSet/>
      <dgm:spPr/>
      <dgm:t>
        <a:bodyPr/>
        <a:lstStyle/>
        <a:p>
          <a:endParaRPr lang="en-GB"/>
        </a:p>
      </dgm:t>
    </dgm:pt>
    <dgm:pt modelId="{A7CB20CA-075A-CD41-BCBE-FC09D6B140AA}" type="pres">
      <dgm:prSet presAssocID="{4E5029AC-3A5A-8D4C-8B16-81CDC7D09DC9}" presName="Name0" presStyleCnt="0">
        <dgm:presLayoutVars>
          <dgm:dir/>
          <dgm:resizeHandles val="exact"/>
        </dgm:presLayoutVars>
      </dgm:prSet>
      <dgm:spPr/>
    </dgm:pt>
    <dgm:pt modelId="{2E921871-DBDA-B14F-8026-F1FF6974C1FD}" type="pres">
      <dgm:prSet presAssocID="{4B036930-C858-494C-9EFF-4D094F50D37D}" presName="node" presStyleLbl="node1" presStyleIdx="0" presStyleCnt="9">
        <dgm:presLayoutVars>
          <dgm:bulletEnabled val="1"/>
        </dgm:presLayoutVars>
      </dgm:prSet>
      <dgm:spPr/>
    </dgm:pt>
    <dgm:pt modelId="{321149A5-C3BF-5443-967A-0C3B785333D3}" type="pres">
      <dgm:prSet presAssocID="{50C1BF16-2181-3345-8E0D-F29AF5992B51}" presName="sibTrans" presStyleLbl="sibTrans2D1" presStyleIdx="0" presStyleCnt="8"/>
      <dgm:spPr/>
    </dgm:pt>
    <dgm:pt modelId="{428EE103-4886-8243-B114-F2B95A74393B}" type="pres">
      <dgm:prSet presAssocID="{50C1BF16-2181-3345-8E0D-F29AF5992B51}" presName="connectorText" presStyleLbl="sibTrans2D1" presStyleIdx="0" presStyleCnt="8"/>
      <dgm:spPr/>
    </dgm:pt>
    <dgm:pt modelId="{B8843F20-2057-B447-B471-1CEA4E4A244C}" type="pres">
      <dgm:prSet presAssocID="{5F4153A4-7602-1841-BF72-322BC7E2BB00}" presName="node" presStyleLbl="node1" presStyleIdx="1" presStyleCnt="9">
        <dgm:presLayoutVars>
          <dgm:bulletEnabled val="1"/>
        </dgm:presLayoutVars>
      </dgm:prSet>
      <dgm:spPr/>
    </dgm:pt>
    <dgm:pt modelId="{1C4E993F-FCD4-5C42-8ACE-F792CDE6BA27}" type="pres">
      <dgm:prSet presAssocID="{A6A504FD-9F29-E046-B859-BF6F58C24E99}" presName="sibTrans" presStyleLbl="sibTrans2D1" presStyleIdx="1" presStyleCnt="8"/>
      <dgm:spPr/>
    </dgm:pt>
    <dgm:pt modelId="{8BF433AA-5BFF-4E43-B293-F4A41449DB16}" type="pres">
      <dgm:prSet presAssocID="{A6A504FD-9F29-E046-B859-BF6F58C24E99}" presName="connectorText" presStyleLbl="sibTrans2D1" presStyleIdx="1" presStyleCnt="8"/>
      <dgm:spPr/>
    </dgm:pt>
    <dgm:pt modelId="{465010B8-EB56-2C40-91A8-79025A0074AB}" type="pres">
      <dgm:prSet presAssocID="{E2754A99-D2E7-AD42-8806-AF4B688CA674}" presName="node" presStyleLbl="node1" presStyleIdx="2" presStyleCnt="9">
        <dgm:presLayoutVars>
          <dgm:bulletEnabled val="1"/>
        </dgm:presLayoutVars>
      </dgm:prSet>
      <dgm:spPr/>
    </dgm:pt>
    <dgm:pt modelId="{AD46BC08-12F3-EB47-88D8-65EC06140FF0}" type="pres">
      <dgm:prSet presAssocID="{B3D256CC-86CB-0D49-9D07-967ED46A42CC}" presName="sibTrans" presStyleLbl="sibTrans2D1" presStyleIdx="2" presStyleCnt="8"/>
      <dgm:spPr/>
    </dgm:pt>
    <dgm:pt modelId="{ED82D3FE-0139-4C44-BE85-6C4608E6C18A}" type="pres">
      <dgm:prSet presAssocID="{B3D256CC-86CB-0D49-9D07-967ED46A42CC}" presName="connectorText" presStyleLbl="sibTrans2D1" presStyleIdx="2" presStyleCnt="8"/>
      <dgm:spPr/>
    </dgm:pt>
    <dgm:pt modelId="{B18C4E9B-ECD8-4645-BC0A-091C5460C7D6}" type="pres">
      <dgm:prSet presAssocID="{D0CCEF9E-DE55-6B4B-93CD-4B3E9DF2E43F}" presName="node" presStyleLbl="node1" presStyleIdx="3" presStyleCnt="9">
        <dgm:presLayoutVars>
          <dgm:bulletEnabled val="1"/>
        </dgm:presLayoutVars>
      </dgm:prSet>
      <dgm:spPr/>
    </dgm:pt>
    <dgm:pt modelId="{559B99DA-615F-A34F-8664-86A3869C167C}" type="pres">
      <dgm:prSet presAssocID="{689291EE-F267-CA46-B233-29FE030215AA}" presName="sibTrans" presStyleLbl="sibTrans2D1" presStyleIdx="3" presStyleCnt="8"/>
      <dgm:spPr/>
    </dgm:pt>
    <dgm:pt modelId="{0A2518F7-6B7A-CF4C-B490-20FECCBFBFC9}" type="pres">
      <dgm:prSet presAssocID="{689291EE-F267-CA46-B233-29FE030215AA}" presName="connectorText" presStyleLbl="sibTrans2D1" presStyleIdx="3" presStyleCnt="8"/>
      <dgm:spPr/>
    </dgm:pt>
    <dgm:pt modelId="{78FFC7AF-C14E-C042-AFC7-C82A53C9FB10}" type="pres">
      <dgm:prSet presAssocID="{061BE604-E875-CE4A-A43D-0F13CFD6F859}" presName="node" presStyleLbl="node1" presStyleIdx="4" presStyleCnt="9">
        <dgm:presLayoutVars>
          <dgm:bulletEnabled val="1"/>
        </dgm:presLayoutVars>
      </dgm:prSet>
      <dgm:spPr/>
    </dgm:pt>
    <dgm:pt modelId="{17D3261A-88E2-E64B-9D69-02FFFF098BD5}" type="pres">
      <dgm:prSet presAssocID="{8E0D1ABE-770F-8040-BF13-91CBF450537E}" presName="sibTrans" presStyleLbl="sibTrans2D1" presStyleIdx="4" presStyleCnt="8"/>
      <dgm:spPr/>
    </dgm:pt>
    <dgm:pt modelId="{B3FF1139-FC92-9D4B-B7A6-53B7CA03745D}" type="pres">
      <dgm:prSet presAssocID="{8E0D1ABE-770F-8040-BF13-91CBF450537E}" presName="connectorText" presStyleLbl="sibTrans2D1" presStyleIdx="4" presStyleCnt="8"/>
      <dgm:spPr/>
    </dgm:pt>
    <dgm:pt modelId="{D4E2AC00-C436-7F40-A381-FC30CAFF8450}" type="pres">
      <dgm:prSet presAssocID="{0A836136-FE73-EA42-996A-9E7BCDC553D9}" presName="node" presStyleLbl="node1" presStyleIdx="5" presStyleCnt="9">
        <dgm:presLayoutVars>
          <dgm:bulletEnabled val="1"/>
        </dgm:presLayoutVars>
      </dgm:prSet>
      <dgm:spPr/>
    </dgm:pt>
    <dgm:pt modelId="{7260EB77-23A6-D740-A280-D1BB695553FA}" type="pres">
      <dgm:prSet presAssocID="{00BCEEC0-FB8E-5E42-97A9-A227CCFC515E}" presName="sibTrans" presStyleLbl="sibTrans2D1" presStyleIdx="5" presStyleCnt="8"/>
      <dgm:spPr/>
    </dgm:pt>
    <dgm:pt modelId="{F9799DA3-C13F-E64F-9F8B-BDE3F866F3DA}" type="pres">
      <dgm:prSet presAssocID="{00BCEEC0-FB8E-5E42-97A9-A227CCFC515E}" presName="connectorText" presStyleLbl="sibTrans2D1" presStyleIdx="5" presStyleCnt="8"/>
      <dgm:spPr/>
    </dgm:pt>
    <dgm:pt modelId="{0BDF818A-E5A3-E347-A175-C9893466C45D}" type="pres">
      <dgm:prSet presAssocID="{6B5E75BA-05F4-5141-B955-2CDA2B3EF43E}" presName="node" presStyleLbl="node1" presStyleIdx="6" presStyleCnt="9">
        <dgm:presLayoutVars>
          <dgm:bulletEnabled val="1"/>
        </dgm:presLayoutVars>
      </dgm:prSet>
      <dgm:spPr/>
    </dgm:pt>
    <dgm:pt modelId="{4BEFD372-7914-C149-AE83-E8533616564E}" type="pres">
      <dgm:prSet presAssocID="{055FCA49-4B97-B848-B86C-25C9F4BCB82B}" presName="sibTrans" presStyleLbl="sibTrans2D1" presStyleIdx="6" presStyleCnt="8"/>
      <dgm:spPr/>
    </dgm:pt>
    <dgm:pt modelId="{AD4F4609-871F-984F-A38B-449248CC24E7}" type="pres">
      <dgm:prSet presAssocID="{055FCA49-4B97-B848-B86C-25C9F4BCB82B}" presName="connectorText" presStyleLbl="sibTrans2D1" presStyleIdx="6" presStyleCnt="8"/>
      <dgm:spPr/>
    </dgm:pt>
    <dgm:pt modelId="{F6753A6E-5A3E-284D-8C74-6EBEA7782364}" type="pres">
      <dgm:prSet presAssocID="{9ECB3B72-F010-EA4C-BFA0-571191F95DA9}" presName="node" presStyleLbl="node1" presStyleIdx="7" presStyleCnt="9">
        <dgm:presLayoutVars>
          <dgm:bulletEnabled val="1"/>
        </dgm:presLayoutVars>
      </dgm:prSet>
      <dgm:spPr/>
    </dgm:pt>
    <dgm:pt modelId="{19C2C453-8FA5-E94F-8FE6-615C27922A40}" type="pres">
      <dgm:prSet presAssocID="{930603DD-D866-FC4B-B125-8C59698BE178}" presName="sibTrans" presStyleLbl="sibTrans2D1" presStyleIdx="7" presStyleCnt="8"/>
      <dgm:spPr/>
    </dgm:pt>
    <dgm:pt modelId="{4F3740C2-3755-A946-B2D6-2A33217B1DD2}" type="pres">
      <dgm:prSet presAssocID="{930603DD-D866-FC4B-B125-8C59698BE178}" presName="connectorText" presStyleLbl="sibTrans2D1" presStyleIdx="7" presStyleCnt="8"/>
      <dgm:spPr/>
    </dgm:pt>
    <dgm:pt modelId="{2828E56D-F602-814D-BB79-2CF0235D0D9D}" type="pres">
      <dgm:prSet presAssocID="{7823FDD2-30D1-1640-B921-3286A6C4E28D}" presName="node" presStyleLbl="node1" presStyleIdx="8" presStyleCnt="9">
        <dgm:presLayoutVars>
          <dgm:bulletEnabled val="1"/>
        </dgm:presLayoutVars>
      </dgm:prSet>
      <dgm:spPr/>
    </dgm:pt>
  </dgm:ptLst>
  <dgm:cxnLst>
    <dgm:cxn modelId="{BBC69606-73E8-0A46-828D-C36C0D53DD2D}" type="presOf" srcId="{689291EE-F267-CA46-B233-29FE030215AA}" destId="{559B99DA-615F-A34F-8664-86A3869C167C}" srcOrd="0" destOrd="0" presId="urn:microsoft.com/office/officeart/2005/8/layout/process1"/>
    <dgm:cxn modelId="{83A55609-E8D6-2849-A4BC-7D1250E2349F}" type="presOf" srcId="{8E0D1ABE-770F-8040-BF13-91CBF450537E}" destId="{17D3261A-88E2-E64B-9D69-02FFFF098BD5}" srcOrd="0" destOrd="0" presId="urn:microsoft.com/office/officeart/2005/8/layout/process1"/>
    <dgm:cxn modelId="{B1F7CD0E-5C99-DE40-9899-3585F4C8939B}" type="presOf" srcId="{B3D256CC-86CB-0D49-9D07-967ED46A42CC}" destId="{AD46BC08-12F3-EB47-88D8-65EC06140FF0}" srcOrd="0" destOrd="0" presId="urn:microsoft.com/office/officeart/2005/8/layout/process1"/>
    <dgm:cxn modelId="{63E7320F-7621-514F-AC99-DA5824A001E7}" type="presOf" srcId="{930603DD-D866-FC4B-B125-8C59698BE178}" destId="{19C2C453-8FA5-E94F-8FE6-615C27922A40}" srcOrd="0" destOrd="0" presId="urn:microsoft.com/office/officeart/2005/8/layout/process1"/>
    <dgm:cxn modelId="{376E4A16-D169-5B43-A1FB-152EE1021A63}" srcId="{4E5029AC-3A5A-8D4C-8B16-81CDC7D09DC9}" destId="{4B036930-C858-494C-9EFF-4D094F50D37D}" srcOrd="0" destOrd="0" parTransId="{68D78E42-B6DA-C044-B806-7C7EBB714B5B}" sibTransId="{50C1BF16-2181-3345-8E0D-F29AF5992B51}"/>
    <dgm:cxn modelId="{CB33F316-85B9-CC4E-BD96-20B2F51AD604}" type="presOf" srcId="{8E0D1ABE-770F-8040-BF13-91CBF450537E}" destId="{B3FF1139-FC92-9D4B-B7A6-53B7CA03745D}" srcOrd="1" destOrd="0" presId="urn:microsoft.com/office/officeart/2005/8/layout/process1"/>
    <dgm:cxn modelId="{DBBD8B1A-1B92-0149-A262-2F44D7EECB1A}" type="presOf" srcId="{061BE604-E875-CE4A-A43D-0F13CFD6F859}" destId="{78FFC7AF-C14E-C042-AFC7-C82A53C9FB10}" srcOrd="0" destOrd="0" presId="urn:microsoft.com/office/officeart/2005/8/layout/process1"/>
    <dgm:cxn modelId="{A578DE27-1929-F647-B380-B403F2E251F5}" type="presOf" srcId="{D0CCEF9E-DE55-6B4B-93CD-4B3E9DF2E43F}" destId="{B18C4E9B-ECD8-4645-BC0A-091C5460C7D6}" srcOrd="0" destOrd="0" presId="urn:microsoft.com/office/officeart/2005/8/layout/process1"/>
    <dgm:cxn modelId="{B4E50528-C490-0E4F-8533-5F6418AB922E}" srcId="{4E5029AC-3A5A-8D4C-8B16-81CDC7D09DC9}" destId="{6B5E75BA-05F4-5141-B955-2CDA2B3EF43E}" srcOrd="6" destOrd="0" parTransId="{8C68B2CC-9BF0-4C47-9123-5CDFF5AA2113}" sibTransId="{055FCA49-4B97-B848-B86C-25C9F4BCB82B}"/>
    <dgm:cxn modelId="{4F676F2D-096E-B240-BA4A-173A2D2F39B1}" type="presOf" srcId="{B3D256CC-86CB-0D49-9D07-967ED46A42CC}" destId="{ED82D3FE-0139-4C44-BE85-6C4608E6C18A}" srcOrd="1" destOrd="0" presId="urn:microsoft.com/office/officeart/2005/8/layout/process1"/>
    <dgm:cxn modelId="{48AE7E3A-41BE-924C-9E8B-561BBD00582B}" type="presOf" srcId="{5F4153A4-7602-1841-BF72-322BC7E2BB00}" destId="{B8843F20-2057-B447-B471-1CEA4E4A244C}" srcOrd="0" destOrd="0" presId="urn:microsoft.com/office/officeart/2005/8/layout/process1"/>
    <dgm:cxn modelId="{F4FF844F-D424-FE4D-A1EE-5C89546B7D57}" type="presOf" srcId="{50C1BF16-2181-3345-8E0D-F29AF5992B51}" destId="{428EE103-4886-8243-B114-F2B95A74393B}" srcOrd="1" destOrd="0" presId="urn:microsoft.com/office/officeart/2005/8/layout/process1"/>
    <dgm:cxn modelId="{2FB87054-C4F4-DE47-9DD6-8050BF9FDF18}" type="presOf" srcId="{7823FDD2-30D1-1640-B921-3286A6C4E28D}" destId="{2828E56D-F602-814D-BB79-2CF0235D0D9D}" srcOrd="0" destOrd="0" presId="urn:microsoft.com/office/officeart/2005/8/layout/process1"/>
    <dgm:cxn modelId="{194EEE5B-9B0A-7247-BF7D-2E07515E98EC}" type="presOf" srcId="{50C1BF16-2181-3345-8E0D-F29AF5992B51}" destId="{321149A5-C3BF-5443-967A-0C3B785333D3}" srcOrd="0" destOrd="0" presId="urn:microsoft.com/office/officeart/2005/8/layout/process1"/>
    <dgm:cxn modelId="{9A2CC45D-0E6F-8748-B335-B1F8C25FFE38}" srcId="{4E5029AC-3A5A-8D4C-8B16-81CDC7D09DC9}" destId="{D0CCEF9E-DE55-6B4B-93CD-4B3E9DF2E43F}" srcOrd="3" destOrd="0" parTransId="{D34B33B3-D2EA-AD4D-914F-FEDB22E0B5A5}" sibTransId="{689291EE-F267-CA46-B233-29FE030215AA}"/>
    <dgm:cxn modelId="{82A8846D-CFF6-704B-BB44-F4E89B2E5252}" type="presOf" srcId="{055FCA49-4B97-B848-B86C-25C9F4BCB82B}" destId="{AD4F4609-871F-984F-A38B-449248CC24E7}" srcOrd="1" destOrd="0" presId="urn:microsoft.com/office/officeart/2005/8/layout/process1"/>
    <dgm:cxn modelId="{1776B06E-D23C-204D-92E6-A9FA77688C49}" type="presOf" srcId="{A6A504FD-9F29-E046-B859-BF6F58C24E99}" destId="{8BF433AA-5BFF-4E43-B293-F4A41449DB16}" srcOrd="1" destOrd="0" presId="urn:microsoft.com/office/officeart/2005/8/layout/process1"/>
    <dgm:cxn modelId="{1130DA80-51EB-454D-852A-1A5160FB68FC}" type="presOf" srcId="{9ECB3B72-F010-EA4C-BFA0-571191F95DA9}" destId="{F6753A6E-5A3E-284D-8C74-6EBEA7782364}" srcOrd="0" destOrd="0" presId="urn:microsoft.com/office/officeart/2005/8/layout/process1"/>
    <dgm:cxn modelId="{7AF12284-97F0-8841-A19F-06120E3FB2B3}" type="presOf" srcId="{4E5029AC-3A5A-8D4C-8B16-81CDC7D09DC9}" destId="{A7CB20CA-075A-CD41-BCBE-FC09D6B140AA}" srcOrd="0" destOrd="0" presId="urn:microsoft.com/office/officeart/2005/8/layout/process1"/>
    <dgm:cxn modelId="{FDE6DE8B-9621-544A-BB31-D3830AFB5FEE}" type="presOf" srcId="{00BCEEC0-FB8E-5E42-97A9-A227CCFC515E}" destId="{7260EB77-23A6-D740-A280-D1BB695553FA}" srcOrd="0" destOrd="0" presId="urn:microsoft.com/office/officeart/2005/8/layout/process1"/>
    <dgm:cxn modelId="{437A8099-05B9-9A42-9D45-0CF7B752DD85}" srcId="{4E5029AC-3A5A-8D4C-8B16-81CDC7D09DC9}" destId="{061BE604-E875-CE4A-A43D-0F13CFD6F859}" srcOrd="4" destOrd="0" parTransId="{2B6FE438-E544-C44A-B235-2583EF65DAD0}" sibTransId="{8E0D1ABE-770F-8040-BF13-91CBF450537E}"/>
    <dgm:cxn modelId="{BF67489A-3FA8-644D-ABA8-EA0DA89FB738}" type="presOf" srcId="{055FCA49-4B97-B848-B86C-25C9F4BCB82B}" destId="{4BEFD372-7914-C149-AE83-E8533616564E}" srcOrd="0" destOrd="0" presId="urn:microsoft.com/office/officeart/2005/8/layout/process1"/>
    <dgm:cxn modelId="{8555CFA3-F201-384C-B375-3CB631116BA2}" type="presOf" srcId="{4B036930-C858-494C-9EFF-4D094F50D37D}" destId="{2E921871-DBDA-B14F-8026-F1FF6974C1FD}" srcOrd="0" destOrd="0" presId="urn:microsoft.com/office/officeart/2005/8/layout/process1"/>
    <dgm:cxn modelId="{1CBE52A7-29BD-D643-88FA-728FC851EF3F}" srcId="{4E5029AC-3A5A-8D4C-8B16-81CDC7D09DC9}" destId="{7823FDD2-30D1-1640-B921-3286A6C4E28D}" srcOrd="8" destOrd="0" parTransId="{E4F23B28-4B05-D041-910B-559187F25505}" sibTransId="{6AB80E39-924F-FA47-AD77-B289265206E8}"/>
    <dgm:cxn modelId="{813DF3AA-A998-8945-B37A-EA1379D7F943}" srcId="{4E5029AC-3A5A-8D4C-8B16-81CDC7D09DC9}" destId="{0A836136-FE73-EA42-996A-9E7BCDC553D9}" srcOrd="5" destOrd="0" parTransId="{F369AF3A-E376-BB4A-AF5F-1956FEA0252C}" sibTransId="{00BCEEC0-FB8E-5E42-97A9-A227CCFC515E}"/>
    <dgm:cxn modelId="{18B510BF-37C9-8D43-A48C-29647300726A}" type="presOf" srcId="{A6A504FD-9F29-E046-B859-BF6F58C24E99}" destId="{1C4E993F-FCD4-5C42-8ACE-F792CDE6BA27}" srcOrd="0" destOrd="0" presId="urn:microsoft.com/office/officeart/2005/8/layout/process1"/>
    <dgm:cxn modelId="{B4DA7DC1-F68C-4D41-831B-0C47F70CCD20}" srcId="{4E5029AC-3A5A-8D4C-8B16-81CDC7D09DC9}" destId="{5F4153A4-7602-1841-BF72-322BC7E2BB00}" srcOrd="1" destOrd="0" parTransId="{5A1F9BCE-133E-E146-B5E1-76FDDF456D0E}" sibTransId="{A6A504FD-9F29-E046-B859-BF6F58C24E99}"/>
    <dgm:cxn modelId="{169528C3-94FA-8548-88A9-C413A7B2052F}" type="presOf" srcId="{6B5E75BA-05F4-5141-B955-2CDA2B3EF43E}" destId="{0BDF818A-E5A3-E347-A175-C9893466C45D}" srcOrd="0" destOrd="0" presId="urn:microsoft.com/office/officeart/2005/8/layout/process1"/>
    <dgm:cxn modelId="{E27ABCD2-BDD5-914E-9516-6C7201E8D080}" type="presOf" srcId="{E2754A99-D2E7-AD42-8806-AF4B688CA674}" destId="{465010B8-EB56-2C40-91A8-79025A0074AB}" srcOrd="0" destOrd="0" presId="urn:microsoft.com/office/officeart/2005/8/layout/process1"/>
    <dgm:cxn modelId="{E7EA60D6-382A-3A46-B636-B56C9F11374B}" srcId="{4E5029AC-3A5A-8D4C-8B16-81CDC7D09DC9}" destId="{9ECB3B72-F010-EA4C-BFA0-571191F95DA9}" srcOrd="7" destOrd="0" parTransId="{CC03C61C-A168-C44E-9CEF-9E6F1C315EEE}" sibTransId="{930603DD-D866-FC4B-B125-8C59698BE178}"/>
    <dgm:cxn modelId="{49A327DA-6306-8143-8FE9-1259B4D2F4EA}" type="presOf" srcId="{930603DD-D866-FC4B-B125-8C59698BE178}" destId="{4F3740C2-3755-A946-B2D6-2A33217B1DD2}" srcOrd="1" destOrd="0" presId="urn:microsoft.com/office/officeart/2005/8/layout/process1"/>
    <dgm:cxn modelId="{C79498E7-3DA4-B641-8D96-EB6E5A622BA3}" srcId="{4E5029AC-3A5A-8D4C-8B16-81CDC7D09DC9}" destId="{E2754A99-D2E7-AD42-8806-AF4B688CA674}" srcOrd="2" destOrd="0" parTransId="{967AD9DA-DCAA-034B-8D22-74FDAF6E5CC2}" sibTransId="{B3D256CC-86CB-0D49-9D07-967ED46A42CC}"/>
    <dgm:cxn modelId="{993031EC-A24D-4C48-BDA1-E6E1CA3C8F12}" type="presOf" srcId="{689291EE-F267-CA46-B233-29FE030215AA}" destId="{0A2518F7-6B7A-CF4C-B490-20FECCBFBFC9}" srcOrd="1" destOrd="0" presId="urn:microsoft.com/office/officeart/2005/8/layout/process1"/>
    <dgm:cxn modelId="{95F176F4-84D8-3049-9DD5-EA2ED070703C}" type="presOf" srcId="{00BCEEC0-FB8E-5E42-97A9-A227CCFC515E}" destId="{F9799DA3-C13F-E64F-9F8B-BDE3F866F3DA}" srcOrd="1" destOrd="0" presId="urn:microsoft.com/office/officeart/2005/8/layout/process1"/>
    <dgm:cxn modelId="{012D23FA-3B7E-204E-875C-0B06DAF36490}" type="presOf" srcId="{0A836136-FE73-EA42-996A-9E7BCDC553D9}" destId="{D4E2AC00-C436-7F40-A381-FC30CAFF8450}" srcOrd="0" destOrd="0" presId="urn:microsoft.com/office/officeart/2005/8/layout/process1"/>
    <dgm:cxn modelId="{55B7D688-BCDE-CF45-9673-DDF4BC31F9BB}" type="presParOf" srcId="{A7CB20CA-075A-CD41-BCBE-FC09D6B140AA}" destId="{2E921871-DBDA-B14F-8026-F1FF6974C1FD}" srcOrd="0" destOrd="0" presId="urn:microsoft.com/office/officeart/2005/8/layout/process1"/>
    <dgm:cxn modelId="{05733783-DC68-1D43-8DDE-9A5BF15BF827}" type="presParOf" srcId="{A7CB20CA-075A-CD41-BCBE-FC09D6B140AA}" destId="{321149A5-C3BF-5443-967A-0C3B785333D3}" srcOrd="1" destOrd="0" presId="urn:microsoft.com/office/officeart/2005/8/layout/process1"/>
    <dgm:cxn modelId="{66C1585F-4251-F540-8FDF-17B881BFE753}" type="presParOf" srcId="{321149A5-C3BF-5443-967A-0C3B785333D3}" destId="{428EE103-4886-8243-B114-F2B95A74393B}" srcOrd="0" destOrd="0" presId="urn:microsoft.com/office/officeart/2005/8/layout/process1"/>
    <dgm:cxn modelId="{CAD71CEA-0D41-9C43-B124-392471835707}" type="presParOf" srcId="{A7CB20CA-075A-CD41-BCBE-FC09D6B140AA}" destId="{B8843F20-2057-B447-B471-1CEA4E4A244C}" srcOrd="2" destOrd="0" presId="urn:microsoft.com/office/officeart/2005/8/layout/process1"/>
    <dgm:cxn modelId="{1721CA6F-6FA9-894A-8063-0CD51067F140}" type="presParOf" srcId="{A7CB20CA-075A-CD41-BCBE-FC09D6B140AA}" destId="{1C4E993F-FCD4-5C42-8ACE-F792CDE6BA27}" srcOrd="3" destOrd="0" presId="urn:microsoft.com/office/officeart/2005/8/layout/process1"/>
    <dgm:cxn modelId="{07A362CD-E864-604E-B01E-9F816CD9B806}" type="presParOf" srcId="{1C4E993F-FCD4-5C42-8ACE-F792CDE6BA27}" destId="{8BF433AA-5BFF-4E43-B293-F4A41449DB16}" srcOrd="0" destOrd="0" presId="urn:microsoft.com/office/officeart/2005/8/layout/process1"/>
    <dgm:cxn modelId="{36E3012E-BB4F-074A-85CB-C3D8B56116E2}" type="presParOf" srcId="{A7CB20CA-075A-CD41-BCBE-FC09D6B140AA}" destId="{465010B8-EB56-2C40-91A8-79025A0074AB}" srcOrd="4" destOrd="0" presId="urn:microsoft.com/office/officeart/2005/8/layout/process1"/>
    <dgm:cxn modelId="{7AD50018-681E-394E-A693-F9080CA54781}" type="presParOf" srcId="{A7CB20CA-075A-CD41-BCBE-FC09D6B140AA}" destId="{AD46BC08-12F3-EB47-88D8-65EC06140FF0}" srcOrd="5" destOrd="0" presId="urn:microsoft.com/office/officeart/2005/8/layout/process1"/>
    <dgm:cxn modelId="{14E133DA-1210-AC4F-B39C-ED347BF5101A}" type="presParOf" srcId="{AD46BC08-12F3-EB47-88D8-65EC06140FF0}" destId="{ED82D3FE-0139-4C44-BE85-6C4608E6C18A}" srcOrd="0" destOrd="0" presId="urn:microsoft.com/office/officeart/2005/8/layout/process1"/>
    <dgm:cxn modelId="{8F91E587-395C-AF47-8E08-51EF738209FD}" type="presParOf" srcId="{A7CB20CA-075A-CD41-BCBE-FC09D6B140AA}" destId="{B18C4E9B-ECD8-4645-BC0A-091C5460C7D6}" srcOrd="6" destOrd="0" presId="urn:microsoft.com/office/officeart/2005/8/layout/process1"/>
    <dgm:cxn modelId="{393C147F-8E2D-0249-BCA5-6D4D74E99751}" type="presParOf" srcId="{A7CB20CA-075A-CD41-BCBE-FC09D6B140AA}" destId="{559B99DA-615F-A34F-8664-86A3869C167C}" srcOrd="7" destOrd="0" presId="urn:microsoft.com/office/officeart/2005/8/layout/process1"/>
    <dgm:cxn modelId="{9B523307-1821-7944-8472-BEB973F19015}" type="presParOf" srcId="{559B99DA-615F-A34F-8664-86A3869C167C}" destId="{0A2518F7-6B7A-CF4C-B490-20FECCBFBFC9}" srcOrd="0" destOrd="0" presId="urn:microsoft.com/office/officeart/2005/8/layout/process1"/>
    <dgm:cxn modelId="{F99D5F1E-7163-B345-B21C-AB9D3C8ABBBC}" type="presParOf" srcId="{A7CB20CA-075A-CD41-BCBE-FC09D6B140AA}" destId="{78FFC7AF-C14E-C042-AFC7-C82A53C9FB10}" srcOrd="8" destOrd="0" presId="urn:microsoft.com/office/officeart/2005/8/layout/process1"/>
    <dgm:cxn modelId="{D1AB4A7C-97C9-9B4D-A0DB-ECEBD2E1D8AF}" type="presParOf" srcId="{A7CB20CA-075A-CD41-BCBE-FC09D6B140AA}" destId="{17D3261A-88E2-E64B-9D69-02FFFF098BD5}" srcOrd="9" destOrd="0" presId="urn:microsoft.com/office/officeart/2005/8/layout/process1"/>
    <dgm:cxn modelId="{E2FE2FBA-7750-4D46-A4CB-1E43D21A228B}" type="presParOf" srcId="{17D3261A-88E2-E64B-9D69-02FFFF098BD5}" destId="{B3FF1139-FC92-9D4B-B7A6-53B7CA03745D}" srcOrd="0" destOrd="0" presId="urn:microsoft.com/office/officeart/2005/8/layout/process1"/>
    <dgm:cxn modelId="{146181CC-52BD-A44E-A04C-BAE8345434E1}" type="presParOf" srcId="{A7CB20CA-075A-CD41-BCBE-FC09D6B140AA}" destId="{D4E2AC00-C436-7F40-A381-FC30CAFF8450}" srcOrd="10" destOrd="0" presId="urn:microsoft.com/office/officeart/2005/8/layout/process1"/>
    <dgm:cxn modelId="{BA2F6FE4-DF8E-C042-9EE6-5701CE458A01}" type="presParOf" srcId="{A7CB20CA-075A-CD41-BCBE-FC09D6B140AA}" destId="{7260EB77-23A6-D740-A280-D1BB695553FA}" srcOrd="11" destOrd="0" presId="urn:microsoft.com/office/officeart/2005/8/layout/process1"/>
    <dgm:cxn modelId="{CC13223A-75D1-F64F-8FDF-886273142AB9}" type="presParOf" srcId="{7260EB77-23A6-D740-A280-D1BB695553FA}" destId="{F9799DA3-C13F-E64F-9F8B-BDE3F866F3DA}" srcOrd="0" destOrd="0" presId="urn:microsoft.com/office/officeart/2005/8/layout/process1"/>
    <dgm:cxn modelId="{F5CF4460-3DD2-A948-9706-5B90C27A6B79}" type="presParOf" srcId="{A7CB20CA-075A-CD41-BCBE-FC09D6B140AA}" destId="{0BDF818A-E5A3-E347-A175-C9893466C45D}" srcOrd="12" destOrd="0" presId="urn:microsoft.com/office/officeart/2005/8/layout/process1"/>
    <dgm:cxn modelId="{4E9B8266-5641-EA49-A1AC-4D5463165361}" type="presParOf" srcId="{A7CB20CA-075A-CD41-BCBE-FC09D6B140AA}" destId="{4BEFD372-7914-C149-AE83-E8533616564E}" srcOrd="13" destOrd="0" presId="urn:microsoft.com/office/officeart/2005/8/layout/process1"/>
    <dgm:cxn modelId="{A74C08DA-B84E-B64C-A38F-8514455F648C}" type="presParOf" srcId="{4BEFD372-7914-C149-AE83-E8533616564E}" destId="{AD4F4609-871F-984F-A38B-449248CC24E7}" srcOrd="0" destOrd="0" presId="urn:microsoft.com/office/officeart/2005/8/layout/process1"/>
    <dgm:cxn modelId="{F9FFB186-7CB0-944A-B841-7EBB863BEE93}" type="presParOf" srcId="{A7CB20CA-075A-CD41-BCBE-FC09D6B140AA}" destId="{F6753A6E-5A3E-284D-8C74-6EBEA7782364}" srcOrd="14" destOrd="0" presId="urn:microsoft.com/office/officeart/2005/8/layout/process1"/>
    <dgm:cxn modelId="{9FFA0FF6-D109-F548-9AE8-14092BC85B38}" type="presParOf" srcId="{A7CB20CA-075A-CD41-BCBE-FC09D6B140AA}" destId="{19C2C453-8FA5-E94F-8FE6-615C27922A40}" srcOrd="15" destOrd="0" presId="urn:microsoft.com/office/officeart/2005/8/layout/process1"/>
    <dgm:cxn modelId="{0BDFA3DC-4356-0544-9918-B6915A31A2BB}" type="presParOf" srcId="{19C2C453-8FA5-E94F-8FE6-615C27922A40}" destId="{4F3740C2-3755-A946-B2D6-2A33217B1DD2}" srcOrd="0" destOrd="0" presId="urn:microsoft.com/office/officeart/2005/8/layout/process1"/>
    <dgm:cxn modelId="{2F54F61D-9EDD-954F-8ECC-395832ECFAD0}" type="presParOf" srcId="{A7CB20CA-075A-CD41-BCBE-FC09D6B140AA}" destId="{2828E56D-F602-814D-BB79-2CF0235D0D9D}" srcOrd="1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21871-DBDA-B14F-8026-F1FF6974C1FD}">
      <dsp:nvSpPr>
        <dsp:cNvPr id="0" name=""/>
        <dsp:cNvSpPr/>
      </dsp:nvSpPr>
      <dsp:spPr>
        <a:xfrm>
          <a:off x="3901"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t>Sign in</a:t>
          </a:r>
          <a:endParaRPr lang="en-GB" sz="1200" kern="1200" dirty="0"/>
        </a:p>
      </dsp:txBody>
      <dsp:txXfrm>
        <a:off x="22738" y="1325692"/>
        <a:ext cx="864982" cy="605468"/>
      </dsp:txXfrm>
    </dsp:sp>
    <dsp:sp modelId="{321149A5-C3BF-5443-967A-0C3B785333D3}">
      <dsp:nvSpPr>
        <dsp:cNvPr id="0" name=""/>
        <dsp:cNvSpPr/>
      </dsp:nvSpPr>
      <dsp:spPr>
        <a:xfrm>
          <a:off x="996822"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996822" y="1561269"/>
        <a:ext cx="133954" cy="134314"/>
      </dsp:txXfrm>
    </dsp:sp>
    <dsp:sp modelId="{B8843F20-2057-B447-B471-1CEA4E4A244C}">
      <dsp:nvSpPr>
        <dsp:cNvPr id="0" name=""/>
        <dsp:cNvSpPr/>
      </dsp:nvSpPr>
      <dsp:spPr>
        <a:xfrm>
          <a:off x="1267619"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Create trip</a:t>
          </a:r>
          <a:endParaRPr lang="en-US" sz="1200" kern="1200" dirty="0"/>
        </a:p>
      </dsp:txBody>
      <dsp:txXfrm>
        <a:off x="1286456" y="1325692"/>
        <a:ext cx="864982" cy="605468"/>
      </dsp:txXfrm>
    </dsp:sp>
    <dsp:sp modelId="{1C4E993F-FCD4-5C42-8ACE-F792CDE6BA27}">
      <dsp:nvSpPr>
        <dsp:cNvPr id="0" name=""/>
        <dsp:cNvSpPr/>
      </dsp:nvSpPr>
      <dsp:spPr>
        <a:xfrm>
          <a:off x="2260541"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2260541" y="1561269"/>
        <a:ext cx="133954" cy="134314"/>
      </dsp:txXfrm>
    </dsp:sp>
    <dsp:sp modelId="{465010B8-EB56-2C40-91A8-79025A0074AB}">
      <dsp:nvSpPr>
        <dsp:cNvPr id="0" name=""/>
        <dsp:cNvSpPr/>
      </dsp:nvSpPr>
      <dsp:spPr>
        <a:xfrm>
          <a:off x="2531338"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Invite members</a:t>
          </a:r>
          <a:endParaRPr lang="en-US" sz="1200" kern="1200" dirty="0"/>
        </a:p>
      </dsp:txBody>
      <dsp:txXfrm>
        <a:off x="2550175" y="1325692"/>
        <a:ext cx="864982" cy="605468"/>
      </dsp:txXfrm>
    </dsp:sp>
    <dsp:sp modelId="{AD46BC08-12F3-EB47-88D8-65EC06140FF0}">
      <dsp:nvSpPr>
        <dsp:cNvPr id="0" name=""/>
        <dsp:cNvSpPr/>
      </dsp:nvSpPr>
      <dsp:spPr>
        <a:xfrm>
          <a:off x="3524259"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3524259" y="1561269"/>
        <a:ext cx="133954" cy="134314"/>
      </dsp:txXfrm>
    </dsp:sp>
    <dsp:sp modelId="{B18C4E9B-ECD8-4645-BC0A-091C5460C7D6}">
      <dsp:nvSpPr>
        <dsp:cNvPr id="0" name=""/>
        <dsp:cNvSpPr/>
      </dsp:nvSpPr>
      <dsp:spPr>
        <a:xfrm>
          <a:off x="3795056"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Collect ideas + comments</a:t>
          </a:r>
          <a:endParaRPr lang="en-US" sz="1200" kern="1200" dirty="0"/>
        </a:p>
      </dsp:txBody>
      <dsp:txXfrm>
        <a:off x="3813893" y="1325692"/>
        <a:ext cx="864982" cy="605468"/>
      </dsp:txXfrm>
    </dsp:sp>
    <dsp:sp modelId="{559B99DA-615F-A34F-8664-86A3869C167C}">
      <dsp:nvSpPr>
        <dsp:cNvPr id="0" name=""/>
        <dsp:cNvSpPr/>
      </dsp:nvSpPr>
      <dsp:spPr>
        <a:xfrm>
          <a:off x="4787978"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4787978" y="1561269"/>
        <a:ext cx="133954" cy="134314"/>
      </dsp:txXfrm>
    </dsp:sp>
    <dsp:sp modelId="{78FFC7AF-C14E-C042-AFC7-C82A53C9FB10}">
      <dsp:nvSpPr>
        <dsp:cNvPr id="0" name=""/>
        <dsp:cNvSpPr/>
      </dsp:nvSpPr>
      <dsp:spPr>
        <a:xfrm>
          <a:off x="5058774"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Build itinerary by days</a:t>
          </a:r>
        </a:p>
      </dsp:txBody>
      <dsp:txXfrm>
        <a:off x="5077611" y="1325692"/>
        <a:ext cx="864982" cy="605468"/>
      </dsp:txXfrm>
    </dsp:sp>
    <dsp:sp modelId="{17D3261A-88E2-E64B-9D69-02FFFF098BD5}">
      <dsp:nvSpPr>
        <dsp:cNvPr id="0" name=""/>
        <dsp:cNvSpPr/>
      </dsp:nvSpPr>
      <dsp:spPr>
        <a:xfrm>
          <a:off x="6051696"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6051696" y="1561269"/>
        <a:ext cx="133954" cy="134314"/>
      </dsp:txXfrm>
    </dsp:sp>
    <dsp:sp modelId="{D4E2AC00-C436-7F40-A381-FC30CAFF8450}">
      <dsp:nvSpPr>
        <dsp:cNvPr id="0" name=""/>
        <dsp:cNvSpPr/>
      </dsp:nvSpPr>
      <dsp:spPr>
        <a:xfrm>
          <a:off x="6322493"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Track shared expenses</a:t>
          </a:r>
        </a:p>
      </dsp:txBody>
      <dsp:txXfrm>
        <a:off x="6341330" y="1325692"/>
        <a:ext cx="864982" cy="605468"/>
      </dsp:txXfrm>
    </dsp:sp>
    <dsp:sp modelId="{7260EB77-23A6-D740-A280-D1BB695553FA}">
      <dsp:nvSpPr>
        <dsp:cNvPr id="0" name=""/>
        <dsp:cNvSpPr/>
      </dsp:nvSpPr>
      <dsp:spPr>
        <a:xfrm>
          <a:off x="7315415"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7315415" y="1561269"/>
        <a:ext cx="133954" cy="134314"/>
      </dsp:txXfrm>
    </dsp:sp>
    <dsp:sp modelId="{0BDF818A-E5A3-E347-A175-C9893466C45D}">
      <dsp:nvSpPr>
        <dsp:cNvPr id="0" name=""/>
        <dsp:cNvSpPr/>
      </dsp:nvSpPr>
      <dsp:spPr>
        <a:xfrm>
          <a:off x="7586211"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Weather</a:t>
          </a:r>
          <a:endParaRPr lang="en-US" sz="1200" kern="1200" dirty="0"/>
        </a:p>
      </dsp:txBody>
      <dsp:txXfrm>
        <a:off x="7605048" y="1325692"/>
        <a:ext cx="864982" cy="605468"/>
      </dsp:txXfrm>
    </dsp:sp>
    <dsp:sp modelId="{4BEFD372-7914-C149-AE83-E8533616564E}">
      <dsp:nvSpPr>
        <dsp:cNvPr id="0" name=""/>
        <dsp:cNvSpPr/>
      </dsp:nvSpPr>
      <dsp:spPr>
        <a:xfrm>
          <a:off x="8579133"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8579133" y="1561269"/>
        <a:ext cx="133954" cy="134314"/>
      </dsp:txXfrm>
    </dsp:sp>
    <dsp:sp modelId="{F6753A6E-5A3E-284D-8C74-6EBEA7782364}">
      <dsp:nvSpPr>
        <dsp:cNvPr id="0" name=""/>
        <dsp:cNvSpPr/>
      </dsp:nvSpPr>
      <dsp:spPr>
        <a:xfrm>
          <a:off x="8849930"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AI suggestions</a:t>
          </a:r>
          <a:endParaRPr lang="en-US" sz="1200" kern="1200" dirty="0"/>
        </a:p>
      </dsp:txBody>
      <dsp:txXfrm>
        <a:off x="8868767" y="1325692"/>
        <a:ext cx="864982" cy="605468"/>
      </dsp:txXfrm>
    </dsp:sp>
    <dsp:sp modelId="{19C2C453-8FA5-E94F-8FE6-615C27922A40}">
      <dsp:nvSpPr>
        <dsp:cNvPr id="0" name=""/>
        <dsp:cNvSpPr/>
      </dsp:nvSpPr>
      <dsp:spPr>
        <a:xfrm>
          <a:off x="9842851" y="1516497"/>
          <a:ext cx="191363" cy="223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9842851" y="1561269"/>
        <a:ext cx="133954" cy="134314"/>
      </dsp:txXfrm>
    </dsp:sp>
    <dsp:sp modelId="{2828E56D-F602-814D-BB79-2CF0235D0D9D}">
      <dsp:nvSpPr>
        <dsp:cNvPr id="0" name=""/>
        <dsp:cNvSpPr/>
      </dsp:nvSpPr>
      <dsp:spPr>
        <a:xfrm>
          <a:off x="10113648" y="1306855"/>
          <a:ext cx="902656" cy="643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Offline sync</a:t>
          </a:r>
        </a:p>
      </dsp:txBody>
      <dsp:txXfrm>
        <a:off x="10132485" y="1325692"/>
        <a:ext cx="864982" cy="60546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13.03.2026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Good afternoon. My name is Ilya Novik. I am presenting my project "Android Application for Collaborative Trip Planning." The goal of the project is to create one mobile product that helps travel groups plan together with fewer mistakes and lower coordination effort.</a:t>
            </a:r>
            <a:endParaRPr lang="ru-RU" dirty="0"/>
          </a:p>
        </p:txBody>
      </p:sp>
      <p:sp>
        <p:nvSpPr>
          <p:cNvPr id="4" name="Slide Number Placeholder 3"/>
          <p:cNvSpPr>
            <a:spLocks noGrp="1"/>
          </p:cNvSpPr>
          <p:nvPr>
            <p:ph type="sldNum" sz="quarter" idx="5"/>
          </p:nvPr>
        </p:nvSpPr>
        <p:spPr/>
        <p:txBody>
          <a:bodyPr/>
          <a:lstStyle/>
          <a:p>
            <a:fld id="{6C748903-8EB5-294E-A216-6B54B0368783}" type="slidenum">
              <a:rPr lang="en-RU" smtClean="0"/>
              <a:t>1</a:t>
            </a:fld>
            <a:endParaRPr lang="en-RU"/>
          </a:p>
        </p:txBody>
      </p:sp>
    </p:spTree>
    <p:extLst>
      <p:ext uri="{BB962C8B-B14F-4D97-AF65-F5344CB8AC3E}">
        <p14:creationId xmlns:p14="http://schemas.microsoft.com/office/powerpoint/2010/main" val="687819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At present, one group trip is usually planned in many separate apps. Communication, places, bookings, and costs are stored in different systems. As a result, data is scattered, work is repeated, and final decisions are less clear. Budget mistakes also become more likely.</a:t>
            </a:r>
            <a:endParaRPr lang="en-US" dirty="0"/>
          </a:p>
        </p:txBody>
      </p:sp>
      <p:sp>
        <p:nvSpPr>
          <p:cNvPr id="4" name="Slide Number Placeholder 3"/>
          <p:cNvSpPr>
            <a:spLocks noGrp="1"/>
          </p:cNvSpPr>
          <p:nvPr>
            <p:ph type="sldNum" sz="quarter" idx="5"/>
          </p:nvPr>
        </p:nvSpPr>
        <p:spPr/>
        <p:txBody>
          <a:bodyPr/>
          <a:lstStyle/>
          <a:p>
            <a:fld id="{6C748903-8EB5-294E-A216-6B54B0368783}" type="slidenum">
              <a:rPr lang="en-RU" smtClean="0"/>
              <a:t>2</a:t>
            </a:fld>
            <a:endParaRPr lang="en-RU"/>
          </a:p>
        </p:txBody>
      </p:sp>
    </p:spTree>
    <p:extLst>
      <p:ext uri="{BB962C8B-B14F-4D97-AF65-F5344CB8AC3E}">
        <p14:creationId xmlns:p14="http://schemas.microsoft.com/office/powerpoint/2010/main" val="1830588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77CB4-045E-42C6-E303-9CDE0F059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4F667-2E70-896E-F0F6-77DD6B28A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31C70-2839-6DE0-A0B4-2055DC4185D7}"/>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main users are small travel groups: friends, families, and colleagues. A second important segment is the trip owner, who coordinates group decisions.</a:t>
            </a:r>
            <a:br>
              <a:rPr lang="en-GB" dirty="0"/>
            </a:br>
            <a:r>
              <a:rPr lang="en-GB" sz="1200" b="0" i="0" kern="1200" dirty="0">
                <a:solidFill>
                  <a:schemeClr val="tx1"/>
                </a:solidFill>
                <a:effectLst/>
                <a:latin typeface="+mn-lt"/>
                <a:ea typeface="+mn-ea"/>
                <a:cs typeface="+mn-cs"/>
              </a:rPr>
              <a:t>As shown in the table, users face five key problems: context loss, coordination overload, budget confusion, too many activity options, and unstable internet conditions.</a:t>
            </a:r>
            <a:br>
              <a:rPr lang="en-GB" dirty="0"/>
            </a:br>
            <a:r>
              <a:rPr lang="en-GB" sz="1200" b="0" i="0" kern="1200" dirty="0">
                <a:solidFill>
                  <a:schemeClr val="tx1"/>
                </a:solidFill>
                <a:effectLst/>
                <a:latin typeface="+mn-lt"/>
                <a:ea typeface="+mn-ea"/>
                <a:cs typeface="+mn-cs"/>
              </a:rPr>
              <a:t>To address these problems, the product must provide a shared planning space, role-based collaboration controls, transparent expense balancing, AI recommendations for places and activities, and offline synchronization.</a:t>
            </a:r>
            <a:endParaRPr lang="en-US" dirty="0"/>
          </a:p>
        </p:txBody>
      </p:sp>
      <p:sp>
        <p:nvSpPr>
          <p:cNvPr id="4" name="Slide Number Placeholder 3">
            <a:extLst>
              <a:ext uri="{FF2B5EF4-FFF2-40B4-BE49-F238E27FC236}">
                <a16:creationId xmlns:a16="http://schemas.microsoft.com/office/drawing/2014/main" id="{156B911B-CEA0-7A6B-824C-AB8A13821E7A}"/>
              </a:ext>
            </a:extLst>
          </p:cNvPr>
          <p:cNvSpPr>
            <a:spLocks noGrp="1"/>
          </p:cNvSpPr>
          <p:nvPr>
            <p:ph type="sldNum" sz="quarter" idx="5"/>
          </p:nvPr>
        </p:nvSpPr>
        <p:spPr/>
        <p:txBody>
          <a:bodyPr/>
          <a:lstStyle/>
          <a:p>
            <a:fld id="{6C748903-8EB5-294E-A216-6B54B0368783}" type="slidenum">
              <a:rPr lang="en-RU" smtClean="0"/>
              <a:t>3</a:t>
            </a:fld>
            <a:endParaRPr lang="en-RU"/>
          </a:p>
        </p:txBody>
      </p:sp>
    </p:spTree>
    <p:extLst>
      <p:ext uri="{BB962C8B-B14F-4D97-AF65-F5344CB8AC3E}">
        <p14:creationId xmlns:p14="http://schemas.microsoft.com/office/powerpoint/2010/main" val="61827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7240-E076-D1AE-91AE-E17A3611C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30D21-C8C9-E9F5-3A3D-0B7A0FED4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B24F1-10C6-AB37-9012-B931493CE3F7}"/>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A review of popular products shows that each tool is strong only in part of the process. Some focus on expenses, some on itinerary, and some on booking workflows. However, a full collaborative workflow in one place is still missing. This is the main gap addressed by the project.</a:t>
            </a:r>
            <a:endParaRPr lang="en-US" dirty="0"/>
          </a:p>
        </p:txBody>
      </p:sp>
      <p:sp>
        <p:nvSpPr>
          <p:cNvPr id="4" name="Slide Number Placeholder 3">
            <a:extLst>
              <a:ext uri="{FF2B5EF4-FFF2-40B4-BE49-F238E27FC236}">
                <a16:creationId xmlns:a16="http://schemas.microsoft.com/office/drawing/2014/main" id="{BCF6CE42-EAE4-2A6F-F5B6-6E701FFEFDEA}"/>
              </a:ext>
            </a:extLst>
          </p:cNvPr>
          <p:cNvSpPr>
            <a:spLocks noGrp="1"/>
          </p:cNvSpPr>
          <p:nvPr>
            <p:ph type="sldNum" sz="quarter" idx="5"/>
          </p:nvPr>
        </p:nvSpPr>
        <p:spPr/>
        <p:txBody>
          <a:bodyPr/>
          <a:lstStyle/>
          <a:p>
            <a:fld id="{6C748903-8EB5-294E-A216-6B54B0368783}" type="slidenum">
              <a:rPr lang="en-RU" smtClean="0"/>
              <a:t>4</a:t>
            </a:fld>
            <a:endParaRPr lang="en-RU"/>
          </a:p>
        </p:txBody>
      </p:sp>
    </p:spTree>
    <p:extLst>
      <p:ext uri="{BB962C8B-B14F-4D97-AF65-F5344CB8AC3E}">
        <p14:creationId xmlns:p14="http://schemas.microsoft.com/office/powerpoint/2010/main" val="14804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60E3A-112D-A8BB-F868-4DF270B82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45819-1E40-546E-022E-3B5229063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D9C75-570B-B15A-9A06-9C85A89AA7DC}"/>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proposed solution includes an Android app and a backend server. It covers the full planning flow from start to finish. Users can sign in, create trips, invite members, discuss ideas, build itinerary plans, and track shared expenses. The system also provides weather context and AI suggestions.</a:t>
            </a:r>
            <a:endParaRPr lang="en-US" dirty="0"/>
          </a:p>
        </p:txBody>
      </p:sp>
      <p:sp>
        <p:nvSpPr>
          <p:cNvPr id="4" name="Slide Number Placeholder 3">
            <a:extLst>
              <a:ext uri="{FF2B5EF4-FFF2-40B4-BE49-F238E27FC236}">
                <a16:creationId xmlns:a16="http://schemas.microsoft.com/office/drawing/2014/main" id="{76A7A49E-0399-C2F6-8FE0-9A62B444539B}"/>
              </a:ext>
            </a:extLst>
          </p:cNvPr>
          <p:cNvSpPr>
            <a:spLocks noGrp="1"/>
          </p:cNvSpPr>
          <p:nvPr>
            <p:ph type="sldNum" sz="quarter" idx="5"/>
          </p:nvPr>
        </p:nvSpPr>
        <p:spPr/>
        <p:txBody>
          <a:bodyPr/>
          <a:lstStyle/>
          <a:p>
            <a:fld id="{6C748903-8EB5-294E-A216-6B54B0368783}" type="slidenum">
              <a:rPr lang="en-RU" smtClean="0"/>
              <a:t>5</a:t>
            </a:fld>
            <a:endParaRPr lang="en-RU"/>
          </a:p>
        </p:txBody>
      </p:sp>
    </p:spTree>
    <p:extLst>
      <p:ext uri="{BB962C8B-B14F-4D97-AF65-F5344CB8AC3E}">
        <p14:creationId xmlns:p14="http://schemas.microsoft.com/office/powerpoint/2010/main" val="3755626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2299A-89E9-689D-114A-C295621E5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A9EB8-B789-847E-DD5B-156815543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EDCF01-0A01-30A2-D783-7BA32082AA8C}"/>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architecture follows a client-server model. The Android app is the client, and the backend is built with </a:t>
            </a:r>
            <a:r>
              <a:rPr lang="en-GB" sz="1200" b="0" i="0" kern="1200" dirty="0" err="1">
                <a:solidFill>
                  <a:schemeClr val="tx1"/>
                </a:solidFill>
                <a:effectLst/>
                <a:latin typeface="+mn-lt"/>
                <a:ea typeface="+mn-ea"/>
                <a:cs typeface="+mn-cs"/>
              </a:rPr>
              <a:t>Ktor</a:t>
            </a:r>
            <a:r>
              <a:rPr lang="en-GB" sz="1200" b="0" i="0" kern="1200" dirty="0">
                <a:solidFill>
                  <a:schemeClr val="tx1"/>
                </a:solidFill>
                <a:effectLst/>
                <a:latin typeface="+mn-lt"/>
                <a:ea typeface="+mn-ea"/>
                <a:cs typeface="+mn-cs"/>
              </a:rPr>
              <a:t>. Domain data is stored in PostgreSQL. External integrations include </a:t>
            </a:r>
            <a:r>
              <a:rPr lang="en-GB" sz="1200" b="0" i="0" kern="1200" dirty="0" err="1">
                <a:solidFill>
                  <a:schemeClr val="tx1"/>
                </a:solidFill>
                <a:effectLst/>
                <a:latin typeface="+mn-lt"/>
                <a:ea typeface="+mn-ea"/>
                <a:cs typeface="+mn-cs"/>
              </a:rPr>
              <a:t>OpenWeather</a:t>
            </a:r>
            <a:r>
              <a:rPr lang="en-GB" sz="1200" b="0" i="0" kern="1200" dirty="0">
                <a:solidFill>
                  <a:schemeClr val="tx1"/>
                </a:solidFill>
                <a:effectLst/>
                <a:latin typeface="+mn-lt"/>
                <a:ea typeface="+mn-ea"/>
                <a:cs typeface="+mn-cs"/>
              </a:rPr>
              <a:t>, Yandex GPT, and Google sign-in. Real-time updates are delivered through WebSocket, and offline changes are synchronized after reconnect.</a:t>
            </a:r>
            <a:endParaRPr lang="en-US" dirty="0"/>
          </a:p>
        </p:txBody>
      </p:sp>
      <p:sp>
        <p:nvSpPr>
          <p:cNvPr id="4" name="Slide Number Placeholder 3">
            <a:extLst>
              <a:ext uri="{FF2B5EF4-FFF2-40B4-BE49-F238E27FC236}">
                <a16:creationId xmlns:a16="http://schemas.microsoft.com/office/drawing/2014/main" id="{8FA1DC1B-327E-B2E2-8810-892BA33ECE0D}"/>
              </a:ext>
            </a:extLst>
          </p:cNvPr>
          <p:cNvSpPr>
            <a:spLocks noGrp="1"/>
          </p:cNvSpPr>
          <p:nvPr>
            <p:ph type="sldNum" sz="quarter" idx="5"/>
          </p:nvPr>
        </p:nvSpPr>
        <p:spPr/>
        <p:txBody>
          <a:bodyPr/>
          <a:lstStyle/>
          <a:p>
            <a:fld id="{6C748903-8EB5-294E-A216-6B54B0368783}" type="slidenum">
              <a:rPr lang="en-RU" smtClean="0"/>
              <a:t>6</a:t>
            </a:fld>
            <a:endParaRPr lang="en-RU"/>
          </a:p>
        </p:txBody>
      </p:sp>
    </p:spTree>
    <p:extLst>
      <p:ext uri="{BB962C8B-B14F-4D97-AF65-F5344CB8AC3E}">
        <p14:creationId xmlns:p14="http://schemas.microsoft.com/office/powerpoint/2010/main" val="2261465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87721-3420-002E-B2C2-44737BC41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88CD4-0D7C-D520-5260-66F914939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B833F-0E46-EA08-9CF1-37E3475E68E5}"/>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technology stack is practical and consistent. The mobile side uses Kotlin and Jetpack Compose. Dependency injection is handled by Hilt. Network communication uses Retrofit and </a:t>
            </a:r>
            <a:r>
              <a:rPr lang="en-GB" sz="1200" b="0" i="0" kern="1200" dirty="0" err="1">
                <a:solidFill>
                  <a:schemeClr val="tx1"/>
                </a:solidFill>
                <a:effectLst/>
                <a:latin typeface="+mn-lt"/>
                <a:ea typeface="+mn-ea"/>
                <a:cs typeface="+mn-cs"/>
              </a:rPr>
              <a:t>OkHttp</a:t>
            </a:r>
            <a:r>
              <a:rPr lang="en-GB" sz="1200" b="0" i="0" kern="1200" dirty="0">
                <a:solidFill>
                  <a:schemeClr val="tx1"/>
                </a:solidFill>
                <a:effectLst/>
                <a:latin typeface="+mn-lt"/>
                <a:ea typeface="+mn-ea"/>
                <a:cs typeface="+mn-cs"/>
              </a:rPr>
              <a:t>. Local persistence uses Room and </a:t>
            </a:r>
            <a:r>
              <a:rPr lang="en-GB" sz="1200" b="0" i="0" kern="1200" dirty="0" err="1">
                <a:solidFill>
                  <a:schemeClr val="tx1"/>
                </a:solidFill>
                <a:effectLst/>
                <a:latin typeface="+mn-lt"/>
                <a:ea typeface="+mn-ea"/>
                <a:cs typeface="+mn-cs"/>
              </a:rPr>
              <a:t>DataStore</a:t>
            </a:r>
            <a:r>
              <a:rPr lang="en-GB" sz="1200" b="0" i="0" kern="1200" dirty="0">
                <a:solidFill>
                  <a:schemeClr val="tx1"/>
                </a:solidFill>
                <a:effectLst/>
                <a:latin typeface="+mn-lt"/>
                <a:ea typeface="+mn-ea"/>
                <a:cs typeface="+mn-cs"/>
              </a:rPr>
              <a:t>, and background synchronization uses </a:t>
            </a:r>
            <a:r>
              <a:rPr lang="en-GB" sz="1200" b="0" i="0" kern="1200" dirty="0" err="1">
                <a:solidFill>
                  <a:schemeClr val="tx1"/>
                </a:solidFill>
                <a:effectLst/>
                <a:latin typeface="+mn-lt"/>
                <a:ea typeface="+mn-ea"/>
                <a:cs typeface="+mn-cs"/>
              </a:rPr>
              <a:t>WorkManager</a:t>
            </a:r>
            <a:r>
              <a:rPr lang="en-GB" sz="1200" b="0" i="0" kern="1200" dirty="0">
                <a:solidFill>
                  <a:schemeClr val="tx1"/>
                </a:solidFill>
                <a:effectLst/>
                <a:latin typeface="+mn-lt"/>
                <a:ea typeface="+mn-ea"/>
                <a:cs typeface="+mn-cs"/>
              </a:rPr>
              <a:t>. The backend uses Kotlin, </a:t>
            </a:r>
            <a:r>
              <a:rPr lang="en-GB" sz="1200" b="0" i="0" kern="1200" dirty="0" err="1">
                <a:solidFill>
                  <a:schemeClr val="tx1"/>
                </a:solidFill>
                <a:effectLst/>
                <a:latin typeface="+mn-lt"/>
                <a:ea typeface="+mn-ea"/>
                <a:cs typeface="+mn-cs"/>
              </a:rPr>
              <a:t>Ktor</a:t>
            </a:r>
            <a:r>
              <a:rPr lang="en-GB" sz="1200" b="0" i="0" kern="1200" dirty="0">
                <a:solidFill>
                  <a:schemeClr val="tx1"/>
                </a:solidFill>
                <a:effectLst/>
                <a:latin typeface="+mn-lt"/>
                <a:ea typeface="+mn-ea"/>
                <a:cs typeface="+mn-cs"/>
              </a:rPr>
              <a:t>, and PostgreSQL.</a:t>
            </a:r>
            <a:endParaRPr lang="en-US" dirty="0"/>
          </a:p>
        </p:txBody>
      </p:sp>
      <p:sp>
        <p:nvSpPr>
          <p:cNvPr id="4" name="Slide Number Placeholder 3">
            <a:extLst>
              <a:ext uri="{FF2B5EF4-FFF2-40B4-BE49-F238E27FC236}">
                <a16:creationId xmlns:a16="http://schemas.microsoft.com/office/drawing/2014/main" id="{C6FDEB25-7FB2-39C7-993F-00E849D3113B}"/>
              </a:ext>
            </a:extLst>
          </p:cNvPr>
          <p:cNvSpPr>
            <a:spLocks noGrp="1"/>
          </p:cNvSpPr>
          <p:nvPr>
            <p:ph type="sldNum" sz="quarter" idx="5"/>
          </p:nvPr>
        </p:nvSpPr>
        <p:spPr/>
        <p:txBody>
          <a:bodyPr/>
          <a:lstStyle/>
          <a:p>
            <a:fld id="{6C748903-8EB5-294E-A216-6B54B0368783}" type="slidenum">
              <a:rPr lang="en-RU" smtClean="0"/>
              <a:t>7</a:t>
            </a:fld>
            <a:endParaRPr lang="en-RU"/>
          </a:p>
        </p:txBody>
      </p:sp>
    </p:spTree>
    <p:extLst>
      <p:ext uri="{BB962C8B-B14F-4D97-AF65-F5344CB8AC3E}">
        <p14:creationId xmlns:p14="http://schemas.microsoft.com/office/powerpoint/2010/main" val="3639401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6066-D684-3A57-FBD8-E98DD4686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FCCAD-2ACA-3E64-BC8D-F3474336E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23DD3-9560-0EEC-BF76-9492592F079B}"/>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Security and collaboration are core requirements. Users sign in with Google, and the system uses JWT tokens for protected access. Role-based rules control allowed actions. Invite links include expiration logic. Comments are updated in near real time through WebSocket. If internet is unavailable, changes are stored locally and sent later.</a:t>
            </a:r>
            <a:endParaRPr lang="en-US" dirty="0"/>
          </a:p>
        </p:txBody>
      </p:sp>
      <p:sp>
        <p:nvSpPr>
          <p:cNvPr id="4" name="Slide Number Placeholder 3">
            <a:extLst>
              <a:ext uri="{FF2B5EF4-FFF2-40B4-BE49-F238E27FC236}">
                <a16:creationId xmlns:a16="http://schemas.microsoft.com/office/drawing/2014/main" id="{160C7ACA-DC04-4558-C3CD-60D462289EB9}"/>
              </a:ext>
            </a:extLst>
          </p:cNvPr>
          <p:cNvSpPr>
            <a:spLocks noGrp="1"/>
          </p:cNvSpPr>
          <p:nvPr>
            <p:ph type="sldNum" sz="quarter" idx="5"/>
          </p:nvPr>
        </p:nvSpPr>
        <p:spPr/>
        <p:txBody>
          <a:bodyPr/>
          <a:lstStyle/>
          <a:p>
            <a:fld id="{6C748903-8EB5-294E-A216-6B54B0368783}" type="slidenum">
              <a:rPr lang="en-RU" smtClean="0"/>
              <a:t>8</a:t>
            </a:fld>
            <a:endParaRPr lang="en-RU"/>
          </a:p>
        </p:txBody>
      </p:sp>
    </p:spTree>
    <p:extLst>
      <p:ext uri="{BB962C8B-B14F-4D97-AF65-F5344CB8AC3E}">
        <p14:creationId xmlns:p14="http://schemas.microsoft.com/office/powerpoint/2010/main" val="4068439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DA605-E4CF-0818-2005-EE92F3E8B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E404C-BA64-1191-3CD6-6DBE15729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0FA64-2933-E17C-5767-0CCF0C5C7DA0}"/>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core user value comes from integrated modules. The itinerary subsystem stores trip days and ordered activities. The expense subsystem records shared costs, split logic, and participant balances. Weather context is provided through </a:t>
            </a:r>
            <a:r>
              <a:rPr lang="en-GB" sz="1200" b="0" i="0" kern="1200" dirty="0" err="1">
                <a:solidFill>
                  <a:schemeClr val="tx1"/>
                </a:solidFill>
                <a:effectLst/>
                <a:latin typeface="+mn-lt"/>
                <a:ea typeface="+mn-ea"/>
                <a:cs typeface="+mn-cs"/>
              </a:rPr>
              <a:t>OpenWeather</a:t>
            </a:r>
            <a:r>
              <a:rPr lang="en-GB" sz="1200" b="0" i="0" kern="1200" dirty="0">
                <a:solidFill>
                  <a:schemeClr val="tx1"/>
                </a:solidFill>
                <a:effectLst/>
                <a:latin typeface="+mn-lt"/>
                <a:ea typeface="+mn-ea"/>
                <a:cs typeface="+mn-cs"/>
              </a:rPr>
              <a:t> with cache-aware updates. AI suggestions are generated through provider abstraction, with Yandex GPT as the production provider. Importantly, AI output is advisory and always validated by users before being saved.</a:t>
            </a:r>
            <a:endParaRPr lang="en-US" dirty="0"/>
          </a:p>
        </p:txBody>
      </p:sp>
      <p:sp>
        <p:nvSpPr>
          <p:cNvPr id="4" name="Slide Number Placeholder 3">
            <a:extLst>
              <a:ext uri="{FF2B5EF4-FFF2-40B4-BE49-F238E27FC236}">
                <a16:creationId xmlns:a16="http://schemas.microsoft.com/office/drawing/2014/main" id="{709524B3-96D0-EEBA-8D76-FA02D16A0FE8}"/>
              </a:ext>
            </a:extLst>
          </p:cNvPr>
          <p:cNvSpPr>
            <a:spLocks noGrp="1"/>
          </p:cNvSpPr>
          <p:nvPr>
            <p:ph type="sldNum" sz="quarter" idx="5"/>
          </p:nvPr>
        </p:nvSpPr>
        <p:spPr/>
        <p:txBody>
          <a:bodyPr/>
          <a:lstStyle/>
          <a:p>
            <a:fld id="{6C748903-8EB5-294E-A216-6B54B0368783}" type="slidenum">
              <a:rPr lang="en-RU" smtClean="0"/>
              <a:t>9</a:t>
            </a:fld>
            <a:endParaRPr lang="en-RU"/>
          </a:p>
        </p:txBody>
      </p:sp>
    </p:spTree>
    <p:extLst>
      <p:ext uri="{BB962C8B-B14F-4D97-AF65-F5344CB8AC3E}">
        <p14:creationId xmlns:p14="http://schemas.microsoft.com/office/powerpoint/2010/main" val="444701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BEBA0-6D63-2E25-27E7-12CDF3C43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10F4F-E930-D5E7-92AB-A63CBA8A1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1B1F9-C667-2A0F-6452-7FE5A438481F}"/>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system is designed as a production-ready solution. The backend is deployed on </a:t>
            </a:r>
            <a:r>
              <a:rPr lang="en-GB" sz="1200" b="0" i="0" kern="1200" dirty="0" err="1">
                <a:solidFill>
                  <a:schemeClr val="tx1"/>
                </a:solidFill>
                <a:effectLst/>
                <a:latin typeface="+mn-lt"/>
                <a:ea typeface="+mn-ea"/>
                <a:cs typeface="+mn-cs"/>
              </a:rPr>
              <a:t>Yandex.Cloud</a:t>
            </a:r>
            <a:r>
              <a:rPr lang="en-GB" sz="1200" b="0" i="0" kern="1200" dirty="0">
                <a:solidFill>
                  <a:schemeClr val="tx1"/>
                </a:solidFill>
                <a:effectLst/>
                <a:latin typeface="+mn-lt"/>
                <a:ea typeface="+mn-ea"/>
                <a:cs typeface="+mn-cs"/>
              </a:rPr>
              <a:t> and uses environment-based configuration. It also includes logging and health monitoring for stable operation. On the Android side, the project includes release configuration and signing for production builds. The final publication target is Google Play.</a:t>
            </a:r>
            <a:endParaRPr lang="en-US" dirty="0"/>
          </a:p>
        </p:txBody>
      </p:sp>
      <p:sp>
        <p:nvSpPr>
          <p:cNvPr id="4" name="Slide Number Placeholder 3">
            <a:extLst>
              <a:ext uri="{FF2B5EF4-FFF2-40B4-BE49-F238E27FC236}">
                <a16:creationId xmlns:a16="http://schemas.microsoft.com/office/drawing/2014/main" id="{0AEBC3C0-1955-7040-23BB-223618F7063E}"/>
              </a:ext>
            </a:extLst>
          </p:cNvPr>
          <p:cNvSpPr>
            <a:spLocks noGrp="1"/>
          </p:cNvSpPr>
          <p:nvPr>
            <p:ph type="sldNum" sz="quarter" idx="5"/>
          </p:nvPr>
        </p:nvSpPr>
        <p:spPr/>
        <p:txBody>
          <a:bodyPr/>
          <a:lstStyle/>
          <a:p>
            <a:fld id="{6C748903-8EB5-294E-A216-6B54B0368783}" type="slidenum">
              <a:rPr lang="en-RU" smtClean="0"/>
              <a:t>10</a:t>
            </a:fld>
            <a:endParaRPr lang="en-RU"/>
          </a:p>
        </p:txBody>
      </p:sp>
    </p:spTree>
    <p:extLst>
      <p:ext uri="{BB962C8B-B14F-4D97-AF65-F5344CB8AC3E}">
        <p14:creationId xmlns:p14="http://schemas.microsoft.com/office/powerpoint/2010/main" val="3644467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338C5-0B65-C21A-5D27-8F2E1483B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0280B-38E3-1FDA-3290-FAC13BE68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85B7-E0AC-5B9C-0D27-DFE8FC6AA8E9}"/>
              </a:ext>
            </a:extLst>
          </p:cNvPr>
          <p:cNvSpPr>
            <a:spLocks noGrp="1"/>
          </p:cNvSpPr>
          <p:nvPr>
            <p:ph type="body" idx="1"/>
          </p:nvPr>
        </p:nvSpPr>
        <p:spPr/>
        <p:txBody>
          <a:bodyPr/>
          <a:lstStyle/>
          <a:p>
            <a:r>
              <a:rPr lang="en-GB" dirty="0">
                <a:effectLst/>
              </a:rPr>
              <a:t>Most core components are already implemented. Android feature modules are available, backend routes are in place, and database schema with migrations is ready. WebSocket comments and sync worker are also implemented. The next stage includes broader tests, sync edge-case checks, and final release polishing.</a:t>
            </a:r>
          </a:p>
        </p:txBody>
      </p:sp>
      <p:sp>
        <p:nvSpPr>
          <p:cNvPr id="4" name="Slide Number Placeholder 3">
            <a:extLst>
              <a:ext uri="{FF2B5EF4-FFF2-40B4-BE49-F238E27FC236}">
                <a16:creationId xmlns:a16="http://schemas.microsoft.com/office/drawing/2014/main" id="{415BB6B9-BB18-E113-1019-3DDC76266060}"/>
              </a:ext>
            </a:extLst>
          </p:cNvPr>
          <p:cNvSpPr>
            <a:spLocks noGrp="1"/>
          </p:cNvSpPr>
          <p:nvPr>
            <p:ph type="sldNum" sz="quarter" idx="5"/>
          </p:nvPr>
        </p:nvSpPr>
        <p:spPr/>
        <p:txBody>
          <a:bodyPr/>
          <a:lstStyle/>
          <a:p>
            <a:fld id="{6C748903-8EB5-294E-A216-6B54B0368783}" type="slidenum">
              <a:rPr lang="en-RU" smtClean="0"/>
              <a:t>11</a:t>
            </a:fld>
            <a:endParaRPr lang="en-RU"/>
          </a:p>
        </p:txBody>
      </p:sp>
    </p:spTree>
    <p:extLst>
      <p:ext uri="{BB962C8B-B14F-4D97-AF65-F5344CB8AC3E}">
        <p14:creationId xmlns:p14="http://schemas.microsoft.com/office/powerpoint/2010/main" val="2121529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F1825-998E-43B3-0492-47FD84285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91821-802E-D026-FD10-793B2AE38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FCF38-5E64-D49B-6474-6C6686BB1EC5}"/>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expected result of the project is a working Android application for collaborative trip planning. The application should support several users in one shared trip space. It should combine ideas, comments, itinerary planning, and shared expenses in one workflow. It should also provide weather support and AI recommendations. From the technical side, the expected result includes a deployed backend and an Android build prepared for publication in Google Play.</a:t>
            </a:r>
            <a:endParaRPr lang="en-US" dirty="0"/>
          </a:p>
        </p:txBody>
      </p:sp>
      <p:sp>
        <p:nvSpPr>
          <p:cNvPr id="4" name="Slide Number Placeholder 3">
            <a:extLst>
              <a:ext uri="{FF2B5EF4-FFF2-40B4-BE49-F238E27FC236}">
                <a16:creationId xmlns:a16="http://schemas.microsoft.com/office/drawing/2014/main" id="{229A9C32-B5D6-7043-E95B-1F4CE37A624A}"/>
              </a:ext>
            </a:extLst>
          </p:cNvPr>
          <p:cNvSpPr>
            <a:spLocks noGrp="1"/>
          </p:cNvSpPr>
          <p:nvPr>
            <p:ph type="sldNum" sz="quarter" idx="5"/>
          </p:nvPr>
        </p:nvSpPr>
        <p:spPr/>
        <p:txBody>
          <a:bodyPr/>
          <a:lstStyle/>
          <a:p>
            <a:fld id="{6C748903-8EB5-294E-A216-6B54B0368783}" type="slidenum">
              <a:rPr lang="en-RU" smtClean="0"/>
              <a:t>12</a:t>
            </a:fld>
            <a:endParaRPr lang="en-RU"/>
          </a:p>
        </p:txBody>
      </p:sp>
    </p:spTree>
    <p:extLst>
      <p:ext uri="{BB962C8B-B14F-4D97-AF65-F5344CB8AC3E}">
        <p14:creationId xmlns:p14="http://schemas.microsoft.com/office/powerpoint/2010/main" val="1731979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3B610-69F2-1EDF-B950-617E13E37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AEAA1-5E00-03C5-0A1B-4E447E5D4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88741-87DB-71DE-61A2-58C7FCF5EF59}"/>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In conclusion, the project addresses a common practical problem in group travel planning. It combines planning, discussion, expenses, weather, and AI support in one product. The main contribution is practical engineering value and clear user benefit.</a:t>
            </a:r>
            <a:endParaRPr lang="en-US" dirty="0"/>
          </a:p>
        </p:txBody>
      </p:sp>
      <p:sp>
        <p:nvSpPr>
          <p:cNvPr id="4" name="Slide Number Placeholder 3">
            <a:extLst>
              <a:ext uri="{FF2B5EF4-FFF2-40B4-BE49-F238E27FC236}">
                <a16:creationId xmlns:a16="http://schemas.microsoft.com/office/drawing/2014/main" id="{3985AD67-9009-15B7-6353-E055173A5B1E}"/>
              </a:ext>
            </a:extLst>
          </p:cNvPr>
          <p:cNvSpPr>
            <a:spLocks noGrp="1"/>
          </p:cNvSpPr>
          <p:nvPr>
            <p:ph type="sldNum" sz="quarter" idx="5"/>
          </p:nvPr>
        </p:nvSpPr>
        <p:spPr/>
        <p:txBody>
          <a:bodyPr/>
          <a:lstStyle/>
          <a:p>
            <a:fld id="{6C748903-8EB5-294E-A216-6B54B0368783}" type="slidenum">
              <a:rPr lang="en-RU" smtClean="0"/>
              <a:t>13</a:t>
            </a:fld>
            <a:endParaRPr lang="en-RU"/>
          </a:p>
        </p:txBody>
      </p:sp>
    </p:spTree>
    <p:extLst>
      <p:ext uri="{BB962C8B-B14F-4D97-AF65-F5344CB8AC3E}">
        <p14:creationId xmlns:p14="http://schemas.microsoft.com/office/powerpoint/2010/main" val="4160878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1A318-7ED5-51B0-F25E-877ABCAB9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E8D45-44E3-533D-3924-6E7EF7A92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B9026-2584-0448-F240-CEDBECFDE424}"/>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This slide shows the references used for analysis, architecture choices, and technology decisions.</a:t>
            </a:r>
            <a:endParaRPr lang="en-US" dirty="0"/>
          </a:p>
        </p:txBody>
      </p:sp>
      <p:sp>
        <p:nvSpPr>
          <p:cNvPr id="4" name="Slide Number Placeholder 3">
            <a:extLst>
              <a:ext uri="{FF2B5EF4-FFF2-40B4-BE49-F238E27FC236}">
                <a16:creationId xmlns:a16="http://schemas.microsoft.com/office/drawing/2014/main" id="{EF03F88F-4169-8734-675A-3694365449B6}"/>
              </a:ext>
            </a:extLst>
          </p:cNvPr>
          <p:cNvSpPr>
            <a:spLocks noGrp="1"/>
          </p:cNvSpPr>
          <p:nvPr>
            <p:ph type="sldNum" sz="quarter" idx="5"/>
          </p:nvPr>
        </p:nvSpPr>
        <p:spPr/>
        <p:txBody>
          <a:bodyPr/>
          <a:lstStyle/>
          <a:p>
            <a:fld id="{6C748903-8EB5-294E-A216-6B54B0368783}" type="slidenum">
              <a:rPr lang="en-RU" smtClean="0"/>
              <a:t>14</a:t>
            </a:fld>
            <a:endParaRPr lang="en-RU"/>
          </a:p>
        </p:txBody>
      </p:sp>
    </p:spTree>
    <p:extLst>
      <p:ext uri="{BB962C8B-B14F-4D97-AF65-F5344CB8AC3E}">
        <p14:creationId xmlns:p14="http://schemas.microsoft.com/office/powerpoint/2010/main" val="235242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appreciate your time and attention. Please feel free to ask any questions</a:t>
            </a:r>
            <a:r>
              <a:rPr lang="ru-RU" dirty="0"/>
              <a:t>. </a:t>
            </a:r>
            <a:r>
              <a:rPr lang="en-US" dirty="0"/>
              <a:t>I’ll be happy to answer.</a:t>
            </a:r>
            <a:endParaRPr lang="ru-RU" dirty="0"/>
          </a:p>
        </p:txBody>
      </p:sp>
      <p:sp>
        <p:nvSpPr>
          <p:cNvPr id="4" name="Slide Number Placeholder 3"/>
          <p:cNvSpPr>
            <a:spLocks noGrp="1"/>
          </p:cNvSpPr>
          <p:nvPr>
            <p:ph type="sldNum" sz="quarter" idx="5"/>
          </p:nvPr>
        </p:nvSpPr>
        <p:spPr/>
        <p:txBody>
          <a:bodyPr/>
          <a:lstStyle/>
          <a:p>
            <a:fld id="{6C748903-8EB5-294E-A216-6B54B0368783}" type="slidenum">
              <a:rPr lang="en-RU" smtClean="0"/>
              <a:t>15</a:t>
            </a:fld>
            <a:endParaRPr lang="en-RU"/>
          </a:p>
        </p:txBody>
      </p:sp>
    </p:spTree>
    <p:extLst>
      <p:ext uri="{BB962C8B-B14F-4D97-AF65-F5344CB8AC3E}">
        <p14:creationId xmlns:p14="http://schemas.microsoft.com/office/powerpoint/2010/main" val="25256661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2" name="Picture 1">
            <a:extLst>
              <a:ext uri="{FF2B5EF4-FFF2-40B4-BE49-F238E27FC236}">
                <a16:creationId xmlns:a16="http://schemas.microsoft.com/office/drawing/2014/main" id="{682F59B5-E815-AE43-BAE2-FA594BB42C02}"/>
              </a:ext>
            </a:extLst>
          </p:cNvPr>
          <p:cNvPicPr>
            <a:picLocks noChangeAspect="1"/>
          </p:cNvPicPr>
          <p:nvPr userDrawn="1"/>
        </p:nvPicPr>
        <p:blipFill>
          <a:blip r:embed="rId3"/>
          <a:src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13.03.2026</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1027968" y="2404670"/>
            <a:ext cx="10126416" cy="1978323"/>
          </a:xfrm>
        </p:spPr>
        <p:txBody>
          <a:bodyPr>
            <a:noAutofit/>
          </a:bodyPr>
          <a:lstStyle/>
          <a:p>
            <a:r>
              <a:rPr lang="en-GB" dirty="0"/>
              <a:t>Android Application</a:t>
            </a:r>
            <a:br>
              <a:rPr lang="ru-RU" dirty="0"/>
            </a:br>
            <a:r>
              <a:rPr lang="en-GB" dirty="0"/>
              <a:t>for Collaborative Trip Planning</a:t>
            </a:r>
            <a:endParaRPr lang="ru-RU" dirty="0"/>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p:txBody>
          <a:bodyPr anchor="t"/>
          <a:lstStyle/>
          <a:p>
            <a:r>
              <a:rPr lang="en-US" dirty="0"/>
              <a:t>Faculty of Computer Science</a:t>
            </a:r>
          </a:p>
        </p:txBody>
      </p:sp>
      <p:sp>
        <p:nvSpPr>
          <p:cNvPr id="4" name="Текст 3">
            <a:extLst>
              <a:ext uri="{FF2B5EF4-FFF2-40B4-BE49-F238E27FC236}">
                <a16:creationId xmlns:a16="http://schemas.microsoft.com/office/drawing/2014/main" id="{DB8D49EC-434A-5443-AC3F-85F01995E632}"/>
              </a:ext>
            </a:extLst>
          </p:cNvPr>
          <p:cNvSpPr>
            <a:spLocks noGrp="1"/>
          </p:cNvSpPr>
          <p:nvPr>
            <p:ph type="body" sz="quarter" idx="11"/>
          </p:nvPr>
        </p:nvSpPr>
        <p:spPr/>
        <p:txBody>
          <a:bodyPr anchor="t"/>
          <a:lstStyle/>
          <a:p>
            <a:pPr algn="ctr"/>
            <a:r>
              <a:rPr lang="en-US" dirty="0"/>
              <a:t>Department of Software Engineering</a:t>
            </a:r>
            <a:endParaRPr lang="ru-RU" dirty="0"/>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p:txBody>
          <a:bodyPr/>
          <a:lstStyle/>
          <a:p>
            <a:r>
              <a:rPr lang="en-US" dirty="0"/>
              <a:t>Moscow</a:t>
            </a:r>
          </a:p>
          <a:p>
            <a:r>
              <a:rPr lang="en-US" dirty="0"/>
              <a:t>2025</a:t>
            </a:r>
            <a:endParaRPr lang="ru-RU" dirty="0"/>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a:xfrm>
            <a:off x="1027967" y="4382953"/>
            <a:ext cx="9976491" cy="752277"/>
          </a:xfrm>
        </p:spPr>
        <p:txBody>
          <a:bodyPr>
            <a:noAutofit/>
          </a:bodyPr>
          <a:lstStyle/>
          <a:p>
            <a:r>
              <a:rPr lang="en-GB" dirty="0"/>
              <a:t>Ilya Novik</a:t>
            </a:r>
            <a:endParaRPr lang="ru-RU" dirty="0"/>
          </a:p>
          <a:p>
            <a:r>
              <a:rPr lang="en-US" dirty="0"/>
              <a:t>Software Engineering Student</a:t>
            </a:r>
            <a:r>
              <a:rPr lang="ru-RU" dirty="0"/>
              <a:t>,</a:t>
            </a:r>
            <a:r>
              <a:rPr lang="en-US" dirty="0"/>
              <a:t> BSE-2</a:t>
            </a:r>
            <a:r>
              <a:rPr lang="ru-RU" dirty="0"/>
              <a:t>23</a:t>
            </a:r>
            <a:endParaRPr lang="en-US" dirty="0"/>
          </a:p>
          <a:p>
            <a:endParaRPr lang="en-US" dirty="0"/>
          </a:p>
          <a:p>
            <a:r>
              <a:rPr lang="en-GB" dirty="0"/>
              <a:t>Supervisor: </a:t>
            </a:r>
            <a:endParaRPr lang="ru-RU" dirty="0"/>
          </a:p>
          <a:p>
            <a:r>
              <a:rPr lang="en-GB" dirty="0"/>
              <a:t>Alexander </a:t>
            </a:r>
            <a:r>
              <a:rPr lang="en-GB" dirty="0" err="1"/>
              <a:t>Breiman</a:t>
            </a:r>
            <a:endParaRPr lang="ru-RU" dirty="0"/>
          </a:p>
          <a:p>
            <a:r>
              <a:rPr lang="en-US" dirty="0"/>
              <a:t>Department of Software Engineering</a:t>
            </a:r>
            <a:endParaRPr lang="ru-RU" dirty="0"/>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2EAF03B-EC26-1D47-94AC-C75942861D6C}"/>
              </a:ext>
            </a:extLst>
          </p:cNvPr>
          <p:cNvSpPr>
            <a:spLocks noGrp="1"/>
          </p:cNvSpPr>
          <p:nvPr>
            <p:ph type="title"/>
          </p:nvPr>
        </p:nvSpPr>
        <p:spPr/>
        <p:txBody>
          <a:bodyPr/>
          <a:lstStyle/>
          <a:p>
            <a:r>
              <a:rPr lang="en-US" b="1" dirty="0"/>
              <a:t>The problem</a:t>
            </a:r>
            <a:endParaRPr lang="ru-RU" b="1" dirty="0"/>
          </a:p>
        </p:txBody>
      </p:sp>
      <p:sp>
        <p:nvSpPr>
          <p:cNvPr id="4" name="Текст 3">
            <a:extLst>
              <a:ext uri="{FF2B5EF4-FFF2-40B4-BE49-F238E27FC236}">
                <a16:creationId xmlns:a16="http://schemas.microsoft.com/office/drawing/2014/main" id="{53356540-7218-FF4B-B6BC-5BD291A372E2}"/>
              </a:ext>
            </a:extLst>
          </p:cNvPr>
          <p:cNvSpPr>
            <a:spLocks noGrp="1"/>
          </p:cNvSpPr>
          <p:nvPr>
            <p:ph type="body" sz="quarter" idx="12"/>
          </p:nvPr>
        </p:nvSpPr>
        <p:spPr>
          <a:xfrm>
            <a:off x="585897" y="2224815"/>
            <a:ext cx="7744095" cy="1794772"/>
          </a:xfrm>
        </p:spPr>
        <p:txBody>
          <a:bodyPr>
            <a:normAutofit/>
          </a:bodyPr>
          <a:lstStyle/>
          <a:p>
            <a:pPr marL="285750" indent="-285750">
              <a:buFont typeface="Arial" panose="020B0604020202020204" pitchFamily="34" charset="0"/>
              <a:buChar char="•"/>
            </a:pPr>
            <a:r>
              <a:rPr lang="en-US" sz="2000" dirty="0"/>
              <a:t>Group travel planning is fragmented across many apps</a:t>
            </a:r>
          </a:p>
          <a:p>
            <a:pPr marL="285750" indent="-285750">
              <a:buFont typeface="Arial" panose="020B0604020202020204" pitchFamily="34" charset="0"/>
              <a:buChar char="•"/>
            </a:pPr>
            <a:r>
              <a:rPr lang="en-US" sz="2000" dirty="0"/>
              <a:t>Chat, maps, bookings, and budgets are separated</a:t>
            </a:r>
          </a:p>
          <a:p>
            <a:pPr marL="285750" indent="-285750">
              <a:buFont typeface="Arial" panose="020B0604020202020204" pitchFamily="34" charset="0"/>
              <a:buChar char="•"/>
            </a:pPr>
            <a:r>
              <a:rPr lang="en-US" sz="2000" dirty="0"/>
              <a:t>Results: duplicated work, unclear decisions, budget mistakes</a:t>
            </a:r>
          </a:p>
          <a:p>
            <a:pPr marL="285750" indent="-285750">
              <a:buFont typeface="Arial" panose="020B0604020202020204" pitchFamily="34" charset="0"/>
              <a:buChar char="•"/>
            </a:pPr>
            <a:r>
              <a:rPr lang="en-US" sz="2000" dirty="0"/>
              <a:t>Organizer becomes a manual integrator</a:t>
            </a:r>
          </a:p>
        </p:txBody>
      </p:sp>
      <p:sp>
        <p:nvSpPr>
          <p:cNvPr id="5" name="Текст 4">
            <a:extLst>
              <a:ext uri="{FF2B5EF4-FFF2-40B4-BE49-F238E27FC236}">
                <a16:creationId xmlns:a16="http://schemas.microsoft.com/office/drawing/2014/main" id="{3EB29DC1-D5D4-FB41-9E2D-AA4750D0CC8B}"/>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B5B6DD1A-BEFA-D842-9B7A-78D7BD1A5259}"/>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88968744-3B75-9B47-92FD-77E1E725F232}"/>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pic>
        <p:nvPicPr>
          <p:cNvPr id="26" name="Picture 25" descr="A screenshot of a computer screen&#10;&#10;AI-generated content may be incorrect.">
            <a:extLst>
              <a:ext uri="{FF2B5EF4-FFF2-40B4-BE49-F238E27FC236}">
                <a16:creationId xmlns:a16="http://schemas.microsoft.com/office/drawing/2014/main" id="{4401AC5A-53FB-4D14-F194-2D56FE9EF3DD}"/>
              </a:ext>
            </a:extLst>
          </p:cNvPr>
          <p:cNvPicPr>
            <a:picLocks noChangeAspect="1"/>
          </p:cNvPicPr>
          <p:nvPr/>
        </p:nvPicPr>
        <p:blipFill>
          <a:blip r:embed="rId4"/>
          <a:stretch>
            <a:fillRect/>
          </a:stretch>
        </p:blipFill>
        <p:spPr>
          <a:xfrm>
            <a:off x="1143689" y="4019587"/>
            <a:ext cx="9152430" cy="2203692"/>
          </a:xfrm>
          <a:prstGeom prst="rect">
            <a:avLst/>
          </a:prstGeom>
        </p:spPr>
      </p:pic>
    </p:spTree>
    <p:extLst>
      <p:ext uri="{BB962C8B-B14F-4D97-AF65-F5344CB8AC3E}">
        <p14:creationId xmlns:p14="http://schemas.microsoft.com/office/powerpoint/2010/main" val="9285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5324349-84D2-3B9C-552F-58AD1586AFAC}"/>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D73A2CA2-46FB-155A-20C7-1B38571217B1}"/>
              </a:ext>
            </a:extLst>
          </p:cNvPr>
          <p:cNvSpPr>
            <a:spLocks noGrp="1"/>
          </p:cNvSpPr>
          <p:nvPr>
            <p:ph type="title"/>
          </p:nvPr>
        </p:nvSpPr>
        <p:spPr/>
        <p:txBody>
          <a:bodyPr/>
          <a:lstStyle/>
          <a:p>
            <a:r>
              <a:rPr lang="en-GB" b="1" dirty="0"/>
              <a:t>Stakeholders and User Needs</a:t>
            </a:r>
          </a:p>
        </p:txBody>
      </p:sp>
      <p:sp>
        <p:nvSpPr>
          <p:cNvPr id="4" name="Текст 3">
            <a:extLst>
              <a:ext uri="{FF2B5EF4-FFF2-40B4-BE49-F238E27FC236}">
                <a16:creationId xmlns:a16="http://schemas.microsoft.com/office/drawing/2014/main" id="{121A23D8-16AF-E840-515A-49B43F9D6AAA}"/>
              </a:ext>
            </a:extLst>
          </p:cNvPr>
          <p:cNvSpPr>
            <a:spLocks noGrp="1"/>
          </p:cNvSpPr>
          <p:nvPr>
            <p:ph type="body" sz="quarter" idx="12"/>
          </p:nvPr>
        </p:nvSpPr>
        <p:spPr>
          <a:xfrm>
            <a:off x="585897" y="2118798"/>
            <a:ext cx="9217670" cy="1794772"/>
          </a:xfrm>
        </p:spPr>
        <p:txBody>
          <a:bodyPr>
            <a:normAutofit/>
          </a:bodyPr>
          <a:lstStyle/>
          <a:p>
            <a:pPr marL="285750" indent="-285750">
              <a:buFont typeface="Arial" panose="020B0604020202020204" pitchFamily="34" charset="0"/>
              <a:buChar char="•"/>
            </a:pPr>
            <a:r>
              <a:rPr lang="en-US" sz="2000" dirty="0"/>
              <a:t>Main users: friends, families, and colleagues planning trips</a:t>
            </a:r>
          </a:p>
          <a:p>
            <a:pPr marL="285750" indent="-285750">
              <a:buFont typeface="Arial" panose="020B0604020202020204" pitchFamily="34" charset="0"/>
              <a:buChar char="•"/>
            </a:pPr>
            <a:r>
              <a:rPr lang="en-US" sz="2000" dirty="0"/>
              <a:t>Key needs: single source of truth, transparent decisions, itinerary clarity, clear balances, AI recommendations, and stable work with weak internet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
        <p:nvSpPr>
          <p:cNvPr id="5" name="Текст 4">
            <a:extLst>
              <a:ext uri="{FF2B5EF4-FFF2-40B4-BE49-F238E27FC236}">
                <a16:creationId xmlns:a16="http://schemas.microsoft.com/office/drawing/2014/main" id="{4E34F295-CC36-17F0-E07F-EBB765B4BBA2}"/>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BDCC736A-3B00-FF05-900F-B4F21744C68F}"/>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E6920E73-4ED5-0F04-553D-9B9722DB508E}"/>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graphicFrame>
        <p:nvGraphicFramePr>
          <p:cNvPr id="2" name="Table 1">
            <a:extLst>
              <a:ext uri="{FF2B5EF4-FFF2-40B4-BE49-F238E27FC236}">
                <a16:creationId xmlns:a16="http://schemas.microsoft.com/office/drawing/2014/main" id="{A493C6FE-3C78-B56D-E1D5-EE6121A93243}"/>
              </a:ext>
            </a:extLst>
          </p:cNvPr>
          <p:cNvGraphicFramePr>
            <a:graphicFrameLocks noGrp="1"/>
          </p:cNvGraphicFramePr>
          <p:nvPr>
            <p:extLst>
              <p:ext uri="{D42A27DB-BD31-4B8C-83A1-F6EECF244321}">
                <p14:modId xmlns:p14="http://schemas.microsoft.com/office/powerpoint/2010/main" val="3100957065"/>
              </p:ext>
            </p:extLst>
          </p:nvPr>
        </p:nvGraphicFramePr>
        <p:xfrm>
          <a:off x="585897" y="3515992"/>
          <a:ext cx="11020206" cy="2944770"/>
        </p:xfrm>
        <a:graphic>
          <a:graphicData uri="http://schemas.openxmlformats.org/drawingml/2006/table">
            <a:tbl>
              <a:tblPr firstRow="1" bandRow="1">
                <a:tableStyleId>{5C22544A-7EE6-4342-B048-85BDC9FD1C3A}</a:tableStyleId>
              </a:tblPr>
              <a:tblGrid>
                <a:gridCol w="3673402">
                  <a:extLst>
                    <a:ext uri="{9D8B030D-6E8A-4147-A177-3AD203B41FA5}">
                      <a16:colId xmlns:a16="http://schemas.microsoft.com/office/drawing/2014/main" val="4100094143"/>
                    </a:ext>
                  </a:extLst>
                </a:gridCol>
                <a:gridCol w="3673402">
                  <a:extLst>
                    <a:ext uri="{9D8B030D-6E8A-4147-A177-3AD203B41FA5}">
                      <a16:colId xmlns:a16="http://schemas.microsoft.com/office/drawing/2014/main" val="760420246"/>
                    </a:ext>
                  </a:extLst>
                </a:gridCol>
                <a:gridCol w="3673402">
                  <a:extLst>
                    <a:ext uri="{9D8B030D-6E8A-4147-A177-3AD203B41FA5}">
                      <a16:colId xmlns:a16="http://schemas.microsoft.com/office/drawing/2014/main" val="758555420"/>
                    </a:ext>
                  </a:extLst>
                </a:gridCol>
              </a:tblGrid>
              <a:tr h="490795">
                <a:tc>
                  <a:txBody>
                    <a:bodyPr/>
                    <a:lstStyle/>
                    <a:p>
                      <a:pPr algn="l">
                        <a:buNone/>
                      </a:pPr>
                      <a:r>
                        <a:rPr lang="en-GB" b="1" dirty="0">
                          <a:solidFill>
                            <a:schemeClr val="bg1"/>
                          </a:solidFill>
                          <a:effectLst/>
                        </a:rPr>
                        <a:t>Stakeholder segment</a:t>
                      </a:r>
                    </a:p>
                  </a:txBody>
                  <a:tcPr marL="38100" marR="38100" marT="38100" marB="38100" anchor="ctr"/>
                </a:tc>
                <a:tc>
                  <a:txBody>
                    <a:bodyPr/>
                    <a:lstStyle/>
                    <a:p>
                      <a:pPr algn="l">
                        <a:buNone/>
                      </a:pPr>
                      <a:r>
                        <a:rPr lang="en-GB" b="1" dirty="0">
                          <a:solidFill>
                            <a:schemeClr val="bg1"/>
                          </a:solidFill>
                          <a:effectLst/>
                        </a:rPr>
                        <a:t>Pain Point</a:t>
                      </a:r>
                    </a:p>
                  </a:txBody>
                  <a:tcPr marL="38100" marR="38100" marT="38100" marB="38100" anchor="ctr"/>
                </a:tc>
                <a:tc>
                  <a:txBody>
                    <a:bodyPr/>
                    <a:lstStyle/>
                    <a:p>
                      <a:pPr algn="l">
                        <a:buNone/>
                      </a:pPr>
                      <a:r>
                        <a:rPr lang="en-GB" b="1" dirty="0">
                          <a:solidFill>
                            <a:schemeClr val="bg1"/>
                          </a:solidFill>
                          <a:effectLst/>
                        </a:rPr>
                        <a:t>Needed Capability</a:t>
                      </a:r>
                    </a:p>
                  </a:txBody>
                  <a:tcPr marL="38100" marR="38100" marT="38100" marB="38100" anchor="ctr"/>
                </a:tc>
                <a:extLst>
                  <a:ext uri="{0D108BD9-81ED-4DB2-BD59-A6C34878D82A}">
                    <a16:rowId xmlns:a16="http://schemas.microsoft.com/office/drawing/2014/main" val="1409125871"/>
                  </a:ext>
                </a:extLst>
              </a:tr>
              <a:tr h="490795">
                <a:tc>
                  <a:txBody>
                    <a:bodyPr/>
                    <a:lstStyle/>
                    <a:p>
                      <a:pPr>
                        <a:buNone/>
                      </a:pPr>
                      <a:r>
                        <a:rPr lang="en-GB">
                          <a:effectLst/>
                        </a:rPr>
                        <a:t>Trip members</a:t>
                      </a:r>
                    </a:p>
                  </a:txBody>
                  <a:tcPr marL="38100" marR="38100" marT="38100" marB="38100" anchor="ctr"/>
                </a:tc>
                <a:tc>
                  <a:txBody>
                    <a:bodyPr/>
                    <a:lstStyle/>
                    <a:p>
                      <a:pPr>
                        <a:buNone/>
                      </a:pPr>
                      <a:r>
                        <a:rPr lang="en-GB">
                          <a:effectLst/>
                        </a:rPr>
                        <a:t>Context loss across tools</a:t>
                      </a:r>
                    </a:p>
                  </a:txBody>
                  <a:tcPr marL="38100" marR="38100" marT="38100" marB="38100" anchor="ctr"/>
                </a:tc>
                <a:tc>
                  <a:txBody>
                    <a:bodyPr/>
                    <a:lstStyle/>
                    <a:p>
                      <a:pPr>
                        <a:buNone/>
                      </a:pPr>
                      <a:r>
                        <a:rPr lang="en-GB" dirty="0">
                          <a:effectLst/>
                        </a:rPr>
                        <a:t>Shared planning space</a:t>
                      </a:r>
                    </a:p>
                  </a:txBody>
                  <a:tcPr marL="38100" marR="38100" marT="38100" marB="38100" anchor="ctr"/>
                </a:tc>
                <a:extLst>
                  <a:ext uri="{0D108BD9-81ED-4DB2-BD59-A6C34878D82A}">
                    <a16:rowId xmlns:a16="http://schemas.microsoft.com/office/drawing/2014/main" val="2040898488"/>
                  </a:ext>
                </a:extLst>
              </a:tr>
              <a:tr h="490795">
                <a:tc>
                  <a:txBody>
                    <a:bodyPr/>
                    <a:lstStyle/>
                    <a:p>
                      <a:pPr>
                        <a:buNone/>
                      </a:pPr>
                      <a:r>
                        <a:rPr lang="en-GB">
                          <a:effectLst/>
                        </a:rPr>
                        <a:t>Trip owner</a:t>
                      </a:r>
                    </a:p>
                  </a:txBody>
                  <a:tcPr marL="38100" marR="38100" marT="38100" marB="38100" anchor="ctr"/>
                </a:tc>
                <a:tc>
                  <a:txBody>
                    <a:bodyPr/>
                    <a:lstStyle/>
                    <a:p>
                      <a:pPr>
                        <a:buNone/>
                      </a:pPr>
                      <a:r>
                        <a:rPr lang="en-GB">
                          <a:effectLst/>
                        </a:rPr>
                        <a:t>Coordination overload</a:t>
                      </a:r>
                    </a:p>
                  </a:txBody>
                  <a:tcPr marL="38100" marR="38100" marT="38100" marB="38100" anchor="ctr"/>
                </a:tc>
                <a:tc>
                  <a:txBody>
                    <a:bodyPr/>
                    <a:lstStyle/>
                    <a:p>
                      <a:pPr>
                        <a:buNone/>
                      </a:pPr>
                      <a:r>
                        <a:rPr lang="en-GB">
                          <a:effectLst/>
                        </a:rPr>
                        <a:t>Roles / invites / moderation</a:t>
                      </a:r>
                    </a:p>
                  </a:txBody>
                  <a:tcPr marL="38100" marR="38100" marT="38100" marB="38100" anchor="ctr"/>
                </a:tc>
                <a:extLst>
                  <a:ext uri="{0D108BD9-81ED-4DB2-BD59-A6C34878D82A}">
                    <a16:rowId xmlns:a16="http://schemas.microsoft.com/office/drawing/2014/main" val="2302719742"/>
                  </a:ext>
                </a:extLst>
              </a:tr>
              <a:tr h="490795">
                <a:tc>
                  <a:txBody>
                    <a:bodyPr/>
                    <a:lstStyle/>
                    <a:p>
                      <a:pPr>
                        <a:buNone/>
                      </a:pPr>
                      <a:r>
                        <a:rPr lang="en-GB">
                          <a:effectLst/>
                        </a:rPr>
                        <a:t>Planning group</a:t>
                      </a:r>
                    </a:p>
                  </a:txBody>
                  <a:tcPr marL="38100" marR="38100" marT="38100" marB="38100" anchor="ctr"/>
                </a:tc>
                <a:tc>
                  <a:txBody>
                    <a:bodyPr/>
                    <a:lstStyle/>
                    <a:p>
                      <a:pPr>
                        <a:buNone/>
                      </a:pPr>
                      <a:r>
                        <a:rPr lang="en-GB">
                          <a:effectLst/>
                        </a:rPr>
                        <a:t>Budget confusion</a:t>
                      </a:r>
                    </a:p>
                  </a:txBody>
                  <a:tcPr marL="38100" marR="38100" marT="38100" marB="38100" anchor="ctr"/>
                </a:tc>
                <a:tc>
                  <a:txBody>
                    <a:bodyPr/>
                    <a:lstStyle/>
                    <a:p>
                      <a:pPr>
                        <a:buNone/>
                      </a:pPr>
                      <a:r>
                        <a:rPr lang="en-GB">
                          <a:effectLst/>
                        </a:rPr>
                        <a:t>Transparent balancing</a:t>
                      </a:r>
                    </a:p>
                  </a:txBody>
                  <a:tcPr marL="38100" marR="38100" marT="38100" marB="38100" anchor="ctr"/>
                </a:tc>
                <a:extLst>
                  <a:ext uri="{0D108BD9-81ED-4DB2-BD59-A6C34878D82A}">
                    <a16:rowId xmlns:a16="http://schemas.microsoft.com/office/drawing/2014/main" val="2144028429"/>
                  </a:ext>
                </a:extLst>
              </a:tr>
              <a:tr h="490795">
                <a:tc>
                  <a:txBody>
                    <a:bodyPr/>
                    <a:lstStyle/>
                    <a:p>
                      <a:pPr>
                        <a:buNone/>
                      </a:pPr>
                      <a:r>
                        <a:rPr lang="en-GB">
                          <a:effectLst/>
                        </a:rPr>
                        <a:t>Planning group</a:t>
                      </a:r>
                    </a:p>
                  </a:txBody>
                  <a:tcPr marL="38100" marR="38100" marT="38100" marB="38100" anchor="ctr"/>
                </a:tc>
                <a:tc>
                  <a:txBody>
                    <a:bodyPr/>
                    <a:lstStyle/>
                    <a:p>
                      <a:pPr>
                        <a:buNone/>
                      </a:pPr>
                      <a:r>
                        <a:rPr lang="en-GB">
                          <a:effectLst/>
                        </a:rPr>
                        <a:t>Too many options</a:t>
                      </a:r>
                    </a:p>
                  </a:txBody>
                  <a:tcPr marL="38100" marR="38100" marT="38100" marB="38100" anchor="ctr"/>
                </a:tc>
                <a:tc>
                  <a:txBody>
                    <a:bodyPr/>
                    <a:lstStyle/>
                    <a:p>
                      <a:pPr>
                        <a:buNone/>
                      </a:pPr>
                      <a:r>
                        <a:rPr lang="en-GB">
                          <a:effectLst/>
                        </a:rPr>
                        <a:t>AI recommendations</a:t>
                      </a:r>
                    </a:p>
                  </a:txBody>
                  <a:tcPr marL="38100" marR="38100" marT="38100" marB="38100" anchor="ctr"/>
                </a:tc>
                <a:extLst>
                  <a:ext uri="{0D108BD9-81ED-4DB2-BD59-A6C34878D82A}">
                    <a16:rowId xmlns:a16="http://schemas.microsoft.com/office/drawing/2014/main" val="1375136330"/>
                  </a:ext>
                </a:extLst>
              </a:tr>
              <a:tr h="490795">
                <a:tc>
                  <a:txBody>
                    <a:bodyPr/>
                    <a:lstStyle/>
                    <a:p>
                      <a:pPr>
                        <a:buNone/>
                      </a:pPr>
                      <a:r>
                        <a:rPr lang="en-GB" dirty="0">
                          <a:effectLst/>
                        </a:rPr>
                        <a:t>Users with unstable internet</a:t>
                      </a:r>
                    </a:p>
                  </a:txBody>
                  <a:tcPr marL="38100" marR="38100" marT="38100" marB="38100" anchor="ctr"/>
                </a:tc>
                <a:tc>
                  <a:txBody>
                    <a:bodyPr/>
                    <a:lstStyle/>
                    <a:p>
                      <a:pPr>
                        <a:buNone/>
                      </a:pPr>
                      <a:r>
                        <a:rPr lang="en-GB">
                          <a:effectLst/>
                        </a:rPr>
                        <a:t>Lost updates</a:t>
                      </a:r>
                    </a:p>
                  </a:txBody>
                  <a:tcPr marL="38100" marR="38100" marT="38100" marB="38100" anchor="ctr"/>
                </a:tc>
                <a:tc>
                  <a:txBody>
                    <a:bodyPr/>
                    <a:lstStyle/>
                    <a:p>
                      <a:pPr>
                        <a:buNone/>
                      </a:pPr>
                      <a:r>
                        <a:rPr lang="en-GB" dirty="0">
                          <a:effectLst/>
                        </a:rPr>
                        <a:t>Offline queue + sync</a:t>
                      </a:r>
                    </a:p>
                  </a:txBody>
                  <a:tcPr marL="38100" marR="38100" marT="38100" marB="38100" anchor="ctr"/>
                </a:tc>
                <a:extLst>
                  <a:ext uri="{0D108BD9-81ED-4DB2-BD59-A6C34878D82A}">
                    <a16:rowId xmlns:a16="http://schemas.microsoft.com/office/drawing/2014/main" val="3544931224"/>
                  </a:ext>
                </a:extLst>
              </a:tr>
            </a:tbl>
          </a:graphicData>
        </a:graphic>
      </p:graphicFrame>
    </p:spTree>
    <p:extLst>
      <p:ext uri="{BB962C8B-B14F-4D97-AF65-F5344CB8AC3E}">
        <p14:creationId xmlns:p14="http://schemas.microsoft.com/office/powerpoint/2010/main" val="4147241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F9A11EA-DE23-6FD8-5C3C-C72E46C619A8}"/>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EEC3A972-76FB-2290-1196-B78DD301031C}"/>
              </a:ext>
            </a:extLst>
          </p:cNvPr>
          <p:cNvSpPr>
            <a:spLocks noGrp="1"/>
          </p:cNvSpPr>
          <p:nvPr>
            <p:ph type="title"/>
          </p:nvPr>
        </p:nvSpPr>
        <p:spPr/>
        <p:txBody>
          <a:bodyPr/>
          <a:lstStyle/>
          <a:p>
            <a:r>
              <a:rPr lang="en-GB" b="1" dirty="0"/>
              <a:t>Existing Solutions and Gap</a:t>
            </a:r>
          </a:p>
        </p:txBody>
      </p:sp>
      <p:sp>
        <p:nvSpPr>
          <p:cNvPr id="4" name="Текст 3">
            <a:extLst>
              <a:ext uri="{FF2B5EF4-FFF2-40B4-BE49-F238E27FC236}">
                <a16:creationId xmlns:a16="http://schemas.microsoft.com/office/drawing/2014/main" id="{27268A94-2B73-132E-033B-161FA6FEBD27}"/>
              </a:ext>
            </a:extLst>
          </p:cNvPr>
          <p:cNvSpPr>
            <a:spLocks noGrp="1"/>
          </p:cNvSpPr>
          <p:nvPr>
            <p:ph type="body" sz="quarter" idx="12"/>
          </p:nvPr>
        </p:nvSpPr>
        <p:spPr>
          <a:xfrm>
            <a:off x="585897" y="2104454"/>
            <a:ext cx="7744095" cy="1794772"/>
          </a:xfrm>
        </p:spPr>
        <p:txBody>
          <a:bodyPr>
            <a:normAutofit/>
          </a:bodyPr>
          <a:lstStyle/>
          <a:p>
            <a:r>
              <a:rPr lang="en-GB" sz="2000" dirty="0"/>
              <a:t>Each product covers only part of the workflow. </a:t>
            </a:r>
            <a:r>
              <a:rPr lang="en-GB" sz="2000" b="1" dirty="0"/>
              <a:t>Gap: integrated collaborative planning workspace.</a:t>
            </a:r>
            <a:endParaRPr lang="en-US" sz="2000" dirty="0"/>
          </a:p>
        </p:txBody>
      </p:sp>
      <p:sp>
        <p:nvSpPr>
          <p:cNvPr id="5" name="Текст 4">
            <a:extLst>
              <a:ext uri="{FF2B5EF4-FFF2-40B4-BE49-F238E27FC236}">
                <a16:creationId xmlns:a16="http://schemas.microsoft.com/office/drawing/2014/main" id="{E770CE03-60F9-6187-C41E-CA349DCC1185}"/>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D00C3D02-A787-FB68-C2E6-AABFBA3A472D}"/>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EA2275BB-8931-4F45-2A7E-CB9B069A6950}"/>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graphicFrame>
        <p:nvGraphicFramePr>
          <p:cNvPr id="2" name="Table 1">
            <a:extLst>
              <a:ext uri="{FF2B5EF4-FFF2-40B4-BE49-F238E27FC236}">
                <a16:creationId xmlns:a16="http://schemas.microsoft.com/office/drawing/2014/main" id="{52AEE922-85A9-4284-8A65-103FB25BBDA2}"/>
              </a:ext>
            </a:extLst>
          </p:cNvPr>
          <p:cNvGraphicFramePr>
            <a:graphicFrameLocks noGrp="1"/>
          </p:cNvGraphicFramePr>
          <p:nvPr>
            <p:extLst>
              <p:ext uri="{D42A27DB-BD31-4B8C-83A1-F6EECF244321}">
                <p14:modId xmlns:p14="http://schemas.microsoft.com/office/powerpoint/2010/main" val="3642781006"/>
              </p:ext>
            </p:extLst>
          </p:nvPr>
        </p:nvGraphicFramePr>
        <p:xfrm>
          <a:off x="585897" y="3001840"/>
          <a:ext cx="11020212" cy="3315256"/>
        </p:xfrm>
        <a:graphic>
          <a:graphicData uri="http://schemas.openxmlformats.org/drawingml/2006/table">
            <a:tbl>
              <a:tblPr firstRow="1" bandRow="1">
                <a:tableStyleId>{5C22544A-7EE6-4342-B048-85BDC9FD1C3A}</a:tableStyleId>
              </a:tblPr>
              <a:tblGrid>
                <a:gridCol w="1836702">
                  <a:extLst>
                    <a:ext uri="{9D8B030D-6E8A-4147-A177-3AD203B41FA5}">
                      <a16:colId xmlns:a16="http://schemas.microsoft.com/office/drawing/2014/main" val="4100094143"/>
                    </a:ext>
                  </a:extLst>
                </a:gridCol>
                <a:gridCol w="1836702">
                  <a:extLst>
                    <a:ext uri="{9D8B030D-6E8A-4147-A177-3AD203B41FA5}">
                      <a16:colId xmlns:a16="http://schemas.microsoft.com/office/drawing/2014/main" val="760420246"/>
                    </a:ext>
                  </a:extLst>
                </a:gridCol>
                <a:gridCol w="1836702">
                  <a:extLst>
                    <a:ext uri="{9D8B030D-6E8A-4147-A177-3AD203B41FA5}">
                      <a16:colId xmlns:a16="http://schemas.microsoft.com/office/drawing/2014/main" val="758555420"/>
                    </a:ext>
                  </a:extLst>
                </a:gridCol>
                <a:gridCol w="1836702">
                  <a:extLst>
                    <a:ext uri="{9D8B030D-6E8A-4147-A177-3AD203B41FA5}">
                      <a16:colId xmlns:a16="http://schemas.microsoft.com/office/drawing/2014/main" val="4286273123"/>
                    </a:ext>
                  </a:extLst>
                </a:gridCol>
                <a:gridCol w="1836702">
                  <a:extLst>
                    <a:ext uri="{9D8B030D-6E8A-4147-A177-3AD203B41FA5}">
                      <a16:colId xmlns:a16="http://schemas.microsoft.com/office/drawing/2014/main" val="3141459196"/>
                    </a:ext>
                  </a:extLst>
                </a:gridCol>
                <a:gridCol w="1836702">
                  <a:extLst>
                    <a:ext uri="{9D8B030D-6E8A-4147-A177-3AD203B41FA5}">
                      <a16:colId xmlns:a16="http://schemas.microsoft.com/office/drawing/2014/main" val="1258655837"/>
                    </a:ext>
                  </a:extLst>
                </a:gridCol>
              </a:tblGrid>
              <a:tr h="414407">
                <a:tc>
                  <a:txBody>
                    <a:bodyPr/>
                    <a:lstStyle/>
                    <a:p>
                      <a:pPr algn="l">
                        <a:buNone/>
                      </a:pPr>
                      <a:r>
                        <a:rPr lang="en-GB" b="1" dirty="0">
                          <a:solidFill>
                            <a:schemeClr val="bg1"/>
                          </a:solidFill>
                          <a:effectLst/>
                        </a:rPr>
                        <a:t>Product</a:t>
                      </a:r>
                    </a:p>
                  </a:txBody>
                  <a:tcPr marL="38100" marR="38100" marT="38100" marB="38100" anchor="ctr"/>
                </a:tc>
                <a:tc>
                  <a:txBody>
                    <a:bodyPr/>
                    <a:lstStyle/>
                    <a:p>
                      <a:pPr algn="l">
                        <a:buNone/>
                      </a:pPr>
                      <a:r>
                        <a:rPr lang="en-GB" b="1" dirty="0">
                          <a:solidFill>
                            <a:schemeClr val="bg1"/>
                          </a:solidFill>
                          <a:effectLst/>
                        </a:rPr>
                        <a:t>Collaboration</a:t>
                      </a:r>
                    </a:p>
                  </a:txBody>
                  <a:tcPr marL="38100" marR="38100" marT="38100" marB="38100" anchor="ctr"/>
                </a:tc>
                <a:tc>
                  <a:txBody>
                    <a:bodyPr/>
                    <a:lstStyle/>
                    <a:p>
                      <a:pPr algn="l">
                        <a:buNone/>
                      </a:pPr>
                      <a:r>
                        <a:rPr lang="en-GB" b="1" dirty="0">
                          <a:solidFill>
                            <a:schemeClr val="bg1"/>
                          </a:solidFill>
                          <a:effectLst/>
                        </a:rPr>
                        <a:t>Itinerary</a:t>
                      </a:r>
                    </a:p>
                  </a:txBody>
                  <a:tcPr marL="38100" marR="38100" marT="38100" marB="38100" anchor="ctr"/>
                </a:tc>
                <a:tc>
                  <a:txBody>
                    <a:bodyPr/>
                    <a:lstStyle/>
                    <a:p>
                      <a:pPr algn="l">
                        <a:buNone/>
                      </a:pPr>
                      <a:r>
                        <a:rPr lang="en-GB" b="1" dirty="0">
                          <a:solidFill>
                            <a:schemeClr val="bg1"/>
                          </a:solidFill>
                          <a:effectLst/>
                        </a:rPr>
                        <a:t>Expense balancing</a:t>
                      </a:r>
                    </a:p>
                  </a:txBody>
                  <a:tcPr marL="38100" marR="38100" marT="38100" marB="38100" anchor="ctr"/>
                </a:tc>
                <a:tc>
                  <a:txBody>
                    <a:bodyPr/>
                    <a:lstStyle/>
                    <a:p>
                      <a:pPr algn="l">
                        <a:buNone/>
                      </a:pPr>
                      <a:r>
                        <a:rPr lang="en-GB" b="1" dirty="0">
                          <a:solidFill>
                            <a:schemeClr val="bg1"/>
                          </a:solidFill>
                          <a:effectLst/>
                        </a:rPr>
                        <a:t>Weather</a:t>
                      </a:r>
                    </a:p>
                  </a:txBody>
                  <a:tcPr marL="38100" marR="38100" marT="38100" marB="38100" anchor="ctr"/>
                </a:tc>
                <a:tc>
                  <a:txBody>
                    <a:bodyPr/>
                    <a:lstStyle/>
                    <a:p>
                      <a:pPr algn="l">
                        <a:buNone/>
                      </a:pPr>
                      <a:r>
                        <a:rPr lang="en-GB" b="1" dirty="0">
                          <a:solidFill>
                            <a:schemeClr val="bg1"/>
                          </a:solidFill>
                          <a:effectLst/>
                        </a:rPr>
                        <a:t>AI</a:t>
                      </a:r>
                    </a:p>
                  </a:txBody>
                  <a:tcPr marL="38100" marR="38100" marT="38100" marB="38100" anchor="ctr"/>
                </a:tc>
                <a:extLst>
                  <a:ext uri="{0D108BD9-81ED-4DB2-BD59-A6C34878D82A}">
                    <a16:rowId xmlns:a16="http://schemas.microsoft.com/office/drawing/2014/main" val="1409125871"/>
                  </a:ext>
                </a:extLst>
              </a:tr>
              <a:tr h="414407">
                <a:tc>
                  <a:txBody>
                    <a:bodyPr/>
                    <a:lstStyle/>
                    <a:p>
                      <a:pPr>
                        <a:buNone/>
                      </a:pPr>
                      <a:r>
                        <a:rPr lang="en-GB">
                          <a:effectLst/>
                        </a:rPr>
                        <a:t>Splitwise</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extLst>
                  <a:ext uri="{0D108BD9-81ED-4DB2-BD59-A6C34878D82A}">
                    <a16:rowId xmlns:a16="http://schemas.microsoft.com/office/drawing/2014/main" val="2302719742"/>
                  </a:ext>
                </a:extLst>
              </a:tr>
              <a:tr h="414407">
                <a:tc>
                  <a:txBody>
                    <a:bodyPr/>
                    <a:lstStyle/>
                    <a:p>
                      <a:pPr>
                        <a:buNone/>
                      </a:pPr>
                      <a:r>
                        <a:rPr lang="en-GB">
                          <a:effectLst/>
                        </a:rPr>
                        <a:t>Wanderlog</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extLst>
                  <a:ext uri="{0D108BD9-81ED-4DB2-BD59-A6C34878D82A}">
                    <a16:rowId xmlns:a16="http://schemas.microsoft.com/office/drawing/2014/main" val="2144028429"/>
                  </a:ext>
                </a:extLst>
              </a:tr>
              <a:tr h="414407">
                <a:tc>
                  <a:txBody>
                    <a:bodyPr/>
                    <a:lstStyle/>
                    <a:p>
                      <a:pPr>
                        <a:buNone/>
                      </a:pPr>
                      <a:r>
                        <a:rPr lang="en-GB">
                          <a:effectLst/>
                        </a:rPr>
                        <a:t>TravelSpend</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extLst>
                  <a:ext uri="{0D108BD9-81ED-4DB2-BD59-A6C34878D82A}">
                    <a16:rowId xmlns:a16="http://schemas.microsoft.com/office/drawing/2014/main" val="1375136330"/>
                  </a:ext>
                </a:extLst>
              </a:tr>
              <a:tr h="414407">
                <a:tc>
                  <a:txBody>
                    <a:bodyPr/>
                    <a:lstStyle/>
                    <a:p>
                      <a:pPr>
                        <a:buNone/>
                      </a:pPr>
                      <a:r>
                        <a:rPr lang="en-GB">
                          <a:effectLst/>
                        </a:rPr>
                        <a:t>TripIt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extLst>
                  <a:ext uri="{0D108BD9-81ED-4DB2-BD59-A6C34878D82A}">
                    <a16:rowId xmlns:a16="http://schemas.microsoft.com/office/drawing/2014/main" val="3544931224"/>
                  </a:ext>
                </a:extLst>
              </a:tr>
              <a:tr h="414407">
                <a:tc>
                  <a:txBody>
                    <a:bodyPr/>
                    <a:lstStyle/>
                    <a:p>
                      <a:pPr>
                        <a:buNone/>
                      </a:pPr>
                      <a:r>
                        <a:rPr lang="en-GB">
                          <a:effectLst/>
                        </a:rPr>
                        <a:t>Yandex Travel</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extLst>
                  <a:ext uri="{0D108BD9-81ED-4DB2-BD59-A6C34878D82A}">
                    <a16:rowId xmlns:a16="http://schemas.microsoft.com/office/drawing/2014/main" val="3910199473"/>
                  </a:ext>
                </a:extLst>
              </a:tr>
              <a:tr h="414407">
                <a:tc>
                  <a:txBody>
                    <a:bodyPr/>
                    <a:lstStyle/>
                    <a:p>
                      <a:pPr>
                        <a:buNone/>
                      </a:pPr>
                      <a:r>
                        <a:rPr lang="en-GB">
                          <a:effectLst/>
                        </a:rPr>
                        <a:t>RUSSPASS</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extLst>
                  <a:ext uri="{0D108BD9-81ED-4DB2-BD59-A6C34878D82A}">
                    <a16:rowId xmlns:a16="http://schemas.microsoft.com/office/drawing/2014/main" val="3400258096"/>
                  </a:ext>
                </a:extLst>
              </a:tr>
              <a:tr h="414407">
                <a:tc>
                  <a:txBody>
                    <a:bodyPr/>
                    <a:lstStyle/>
                    <a:p>
                      <a:pPr>
                        <a:buNone/>
                      </a:pPr>
                      <a:r>
                        <a:rPr lang="en-GB">
                          <a:effectLst/>
                        </a:rPr>
                        <a:t>Proposed app</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a:effectLst/>
                        </a:rPr>
                        <a:t>✅</a:t>
                      </a:r>
                    </a:p>
                  </a:txBody>
                  <a:tcPr marL="38100" marR="38100" marT="38100" marB="38100" anchor="ctr"/>
                </a:tc>
                <a:tc>
                  <a:txBody>
                    <a:bodyPr/>
                    <a:lstStyle/>
                    <a:p>
                      <a:pPr>
                        <a:buNone/>
                      </a:pPr>
                      <a:r>
                        <a:rPr lang="en-RU" dirty="0">
                          <a:effectLst/>
                        </a:rPr>
                        <a:t>✅</a:t>
                      </a:r>
                    </a:p>
                  </a:txBody>
                  <a:tcPr marL="38100" marR="38100" marT="38100" marB="38100" anchor="ctr"/>
                </a:tc>
                <a:extLst>
                  <a:ext uri="{0D108BD9-81ED-4DB2-BD59-A6C34878D82A}">
                    <a16:rowId xmlns:a16="http://schemas.microsoft.com/office/drawing/2014/main" val="1275148854"/>
                  </a:ext>
                </a:extLst>
              </a:tr>
            </a:tbl>
          </a:graphicData>
        </a:graphic>
      </p:graphicFrame>
    </p:spTree>
    <p:extLst>
      <p:ext uri="{BB962C8B-B14F-4D97-AF65-F5344CB8AC3E}">
        <p14:creationId xmlns:p14="http://schemas.microsoft.com/office/powerpoint/2010/main" val="1492083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AF8CDD8-2302-3FBF-0D80-C92BDFCD033B}"/>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2075FB-5CD3-5ECB-AC64-3ED9A7FB45DA}"/>
              </a:ext>
            </a:extLst>
          </p:cNvPr>
          <p:cNvSpPr>
            <a:spLocks noGrp="1"/>
          </p:cNvSpPr>
          <p:nvPr>
            <p:ph type="title"/>
          </p:nvPr>
        </p:nvSpPr>
        <p:spPr/>
        <p:txBody>
          <a:bodyPr/>
          <a:lstStyle/>
          <a:p>
            <a:r>
              <a:rPr lang="en-GB" b="1" dirty="0"/>
              <a:t>Proposed Solution</a:t>
            </a:r>
          </a:p>
        </p:txBody>
      </p:sp>
      <p:sp>
        <p:nvSpPr>
          <p:cNvPr id="4" name="Текст 3">
            <a:extLst>
              <a:ext uri="{FF2B5EF4-FFF2-40B4-BE49-F238E27FC236}">
                <a16:creationId xmlns:a16="http://schemas.microsoft.com/office/drawing/2014/main" id="{D7FCC2FD-8504-A859-0C6E-BD4B1FA58EB9}"/>
              </a:ext>
            </a:extLst>
          </p:cNvPr>
          <p:cNvSpPr>
            <a:spLocks noGrp="1"/>
          </p:cNvSpPr>
          <p:nvPr>
            <p:ph type="body" sz="quarter" idx="12"/>
          </p:nvPr>
        </p:nvSpPr>
        <p:spPr>
          <a:xfrm>
            <a:off x="585896" y="2354693"/>
            <a:ext cx="7744095" cy="1794772"/>
          </a:xfrm>
        </p:spPr>
        <p:txBody>
          <a:bodyPr>
            <a:normAutofit/>
          </a:bodyPr>
          <a:lstStyle/>
          <a:p>
            <a:r>
              <a:rPr lang="en-GB" sz="2000" b="1" dirty="0"/>
              <a:t>Android App</a:t>
            </a:r>
            <a:r>
              <a:rPr lang="ru-RU" sz="2000" b="1" dirty="0"/>
              <a:t> </a:t>
            </a:r>
            <a:r>
              <a:rPr lang="en-GB" sz="2000" dirty="0"/>
              <a:t>+</a:t>
            </a:r>
            <a:r>
              <a:rPr lang="ru-RU" sz="2000" dirty="0"/>
              <a:t> </a:t>
            </a:r>
            <a:r>
              <a:rPr lang="en-GB" sz="2000" b="1" dirty="0"/>
              <a:t>Kotlin Backend</a:t>
            </a:r>
            <a:r>
              <a:rPr lang="ru-RU" sz="2000" b="1" dirty="0"/>
              <a:t>. </a:t>
            </a:r>
            <a:r>
              <a:rPr lang="en-GB" sz="2000" dirty="0"/>
              <a:t>End-to-end trip lifecycle</a:t>
            </a:r>
            <a:endParaRPr lang="en-US" sz="2000" dirty="0"/>
          </a:p>
        </p:txBody>
      </p:sp>
      <p:sp>
        <p:nvSpPr>
          <p:cNvPr id="5" name="Текст 4">
            <a:extLst>
              <a:ext uri="{FF2B5EF4-FFF2-40B4-BE49-F238E27FC236}">
                <a16:creationId xmlns:a16="http://schemas.microsoft.com/office/drawing/2014/main" id="{0D7F7449-5BB2-AF82-8C46-81CB02C4DF9D}"/>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1D2EC25D-154D-C799-2ADD-1CE041DB1E2A}"/>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01D3DB4E-7D34-A03B-8706-9249192B0FC1}"/>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11" name="Текст 3">
            <a:extLst>
              <a:ext uri="{FF2B5EF4-FFF2-40B4-BE49-F238E27FC236}">
                <a16:creationId xmlns:a16="http://schemas.microsoft.com/office/drawing/2014/main" id="{6A574320-6722-E308-7C80-A3D3272E766E}"/>
              </a:ext>
            </a:extLst>
          </p:cNvPr>
          <p:cNvSpPr txBox="1">
            <a:spLocks/>
          </p:cNvSpPr>
          <p:nvPr/>
        </p:nvSpPr>
        <p:spPr>
          <a:xfrm>
            <a:off x="247967" y="3735800"/>
            <a:ext cx="7744095" cy="1794772"/>
          </a:xfrm>
          <a:prstGeom prst="rect">
            <a:avLst/>
          </a:prstGeom>
        </p:spPr>
        <p:txBody>
          <a:bodyPr vert="horz" lIns="0" tIns="0" rIns="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sz="2000" dirty="0"/>
          </a:p>
        </p:txBody>
      </p:sp>
      <p:graphicFrame>
        <p:nvGraphicFramePr>
          <p:cNvPr id="12" name="Diagram 11">
            <a:extLst>
              <a:ext uri="{FF2B5EF4-FFF2-40B4-BE49-F238E27FC236}">
                <a16:creationId xmlns:a16="http://schemas.microsoft.com/office/drawing/2014/main" id="{03D64DBA-3D89-C6C0-2DDB-89ADDAD0AA4C}"/>
              </a:ext>
            </a:extLst>
          </p:cNvPr>
          <p:cNvGraphicFramePr/>
          <p:nvPr>
            <p:extLst>
              <p:ext uri="{D42A27DB-BD31-4B8C-83A1-F6EECF244321}">
                <p14:modId xmlns:p14="http://schemas.microsoft.com/office/powerpoint/2010/main" val="3595151477"/>
              </p:ext>
            </p:extLst>
          </p:nvPr>
        </p:nvGraphicFramePr>
        <p:xfrm>
          <a:off x="585896" y="2881479"/>
          <a:ext cx="11020206" cy="325685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71139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8C656B0-6457-252F-4486-C9A2CCA6EF6B}"/>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4545EFB3-0B33-1A30-939D-28B9F8476942}"/>
              </a:ext>
            </a:extLst>
          </p:cNvPr>
          <p:cNvSpPr>
            <a:spLocks noGrp="1"/>
          </p:cNvSpPr>
          <p:nvPr>
            <p:ph type="title"/>
          </p:nvPr>
        </p:nvSpPr>
        <p:spPr/>
        <p:txBody>
          <a:bodyPr/>
          <a:lstStyle/>
          <a:p>
            <a:r>
              <a:rPr lang="en-GB" b="1" dirty="0"/>
              <a:t>System Architecture</a:t>
            </a:r>
          </a:p>
        </p:txBody>
      </p:sp>
      <p:sp>
        <p:nvSpPr>
          <p:cNvPr id="5" name="Текст 4">
            <a:extLst>
              <a:ext uri="{FF2B5EF4-FFF2-40B4-BE49-F238E27FC236}">
                <a16:creationId xmlns:a16="http://schemas.microsoft.com/office/drawing/2014/main" id="{FA55F5E8-B7C0-234B-F03C-46F2BA34720C}"/>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B7E5D4E4-21C4-AA06-AD30-CCF6E70E8821}"/>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F6761716-D232-4753-BF93-70F1402F0A3F}"/>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11" name="Текст 3">
            <a:extLst>
              <a:ext uri="{FF2B5EF4-FFF2-40B4-BE49-F238E27FC236}">
                <a16:creationId xmlns:a16="http://schemas.microsoft.com/office/drawing/2014/main" id="{08192A97-300E-C528-8A48-956CA1130FB1}"/>
              </a:ext>
            </a:extLst>
          </p:cNvPr>
          <p:cNvSpPr txBox="1">
            <a:spLocks/>
          </p:cNvSpPr>
          <p:nvPr/>
        </p:nvSpPr>
        <p:spPr>
          <a:xfrm>
            <a:off x="247967" y="3735800"/>
            <a:ext cx="7744095" cy="1794772"/>
          </a:xfrm>
          <a:prstGeom prst="rect">
            <a:avLst/>
          </a:prstGeom>
        </p:spPr>
        <p:txBody>
          <a:bodyPr vert="horz" lIns="0" tIns="0" rIns="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sz="2000" dirty="0"/>
          </a:p>
        </p:txBody>
      </p:sp>
      <p:pic>
        <p:nvPicPr>
          <p:cNvPr id="8" name="Picture 7" descr="A diagram of a software application&#10;&#10;AI-generated content may be incorrect.">
            <a:extLst>
              <a:ext uri="{FF2B5EF4-FFF2-40B4-BE49-F238E27FC236}">
                <a16:creationId xmlns:a16="http://schemas.microsoft.com/office/drawing/2014/main" id="{31B1B180-CC93-42DD-0805-DADA62F0513F}"/>
              </a:ext>
            </a:extLst>
          </p:cNvPr>
          <p:cNvPicPr>
            <a:picLocks noChangeAspect="1"/>
          </p:cNvPicPr>
          <p:nvPr/>
        </p:nvPicPr>
        <p:blipFill>
          <a:blip r:embed="rId4"/>
          <a:stretch>
            <a:fillRect/>
          </a:stretch>
        </p:blipFill>
        <p:spPr>
          <a:xfrm>
            <a:off x="1945258" y="1970270"/>
            <a:ext cx="7772400" cy="4068107"/>
          </a:xfrm>
          <a:prstGeom prst="rect">
            <a:avLst/>
          </a:prstGeom>
        </p:spPr>
      </p:pic>
    </p:spTree>
    <p:extLst>
      <p:ext uri="{BB962C8B-B14F-4D97-AF65-F5344CB8AC3E}">
        <p14:creationId xmlns:p14="http://schemas.microsoft.com/office/powerpoint/2010/main" val="2399382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B21D6E4-0147-9570-76B2-03ADF191C289}"/>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EEF25608-BFAE-3A4D-C864-28B672B45659}"/>
              </a:ext>
            </a:extLst>
          </p:cNvPr>
          <p:cNvSpPr>
            <a:spLocks noGrp="1"/>
          </p:cNvSpPr>
          <p:nvPr>
            <p:ph type="title"/>
          </p:nvPr>
        </p:nvSpPr>
        <p:spPr/>
        <p:txBody>
          <a:bodyPr/>
          <a:lstStyle/>
          <a:p>
            <a:r>
              <a:rPr lang="en-GB" b="1" dirty="0"/>
              <a:t>Technology Stack</a:t>
            </a:r>
          </a:p>
        </p:txBody>
      </p:sp>
      <p:sp>
        <p:nvSpPr>
          <p:cNvPr id="5" name="Текст 4">
            <a:extLst>
              <a:ext uri="{FF2B5EF4-FFF2-40B4-BE49-F238E27FC236}">
                <a16:creationId xmlns:a16="http://schemas.microsoft.com/office/drawing/2014/main" id="{DC6A4106-E5BB-87AE-DA73-F5AD748BECE6}"/>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668327EE-1BA5-EC9A-A37E-FF7FDB1A4B22}"/>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D9C5BCF2-0C08-F4ED-08AF-FE3749196B11}"/>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11" name="Текст 3">
            <a:extLst>
              <a:ext uri="{FF2B5EF4-FFF2-40B4-BE49-F238E27FC236}">
                <a16:creationId xmlns:a16="http://schemas.microsoft.com/office/drawing/2014/main" id="{AB3E0F0E-8695-23B9-AC72-BEE0B1E8E791}"/>
              </a:ext>
            </a:extLst>
          </p:cNvPr>
          <p:cNvSpPr txBox="1">
            <a:spLocks/>
          </p:cNvSpPr>
          <p:nvPr/>
        </p:nvSpPr>
        <p:spPr>
          <a:xfrm>
            <a:off x="247967" y="3735800"/>
            <a:ext cx="7744095" cy="1794772"/>
          </a:xfrm>
          <a:prstGeom prst="rect">
            <a:avLst/>
          </a:prstGeom>
        </p:spPr>
        <p:txBody>
          <a:bodyPr vert="horz" lIns="0" tIns="0" rIns="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sz="2000" dirty="0"/>
          </a:p>
        </p:txBody>
      </p:sp>
      <p:pic>
        <p:nvPicPr>
          <p:cNvPr id="4" name="Picture 3" descr="A screenshot of a phone&#10;&#10;AI-generated content may be incorrect.">
            <a:extLst>
              <a:ext uri="{FF2B5EF4-FFF2-40B4-BE49-F238E27FC236}">
                <a16:creationId xmlns:a16="http://schemas.microsoft.com/office/drawing/2014/main" id="{6E71F09C-ED37-1031-5296-A8DF354557A4}"/>
              </a:ext>
            </a:extLst>
          </p:cNvPr>
          <p:cNvPicPr>
            <a:picLocks noChangeAspect="1"/>
          </p:cNvPicPr>
          <p:nvPr/>
        </p:nvPicPr>
        <p:blipFill>
          <a:blip r:embed="rId4"/>
          <a:stretch>
            <a:fillRect/>
          </a:stretch>
        </p:blipFill>
        <p:spPr>
          <a:xfrm>
            <a:off x="449704" y="1984972"/>
            <a:ext cx="10493115" cy="4171239"/>
          </a:xfrm>
          <a:prstGeom prst="rect">
            <a:avLst/>
          </a:prstGeom>
        </p:spPr>
      </p:pic>
    </p:spTree>
    <p:extLst>
      <p:ext uri="{BB962C8B-B14F-4D97-AF65-F5344CB8AC3E}">
        <p14:creationId xmlns:p14="http://schemas.microsoft.com/office/powerpoint/2010/main" val="377243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202EE8B-CFB5-9D88-E697-CDD5713C2C5E}"/>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426CBBE2-A925-03F7-4303-3D0167CB2E6B}"/>
              </a:ext>
            </a:extLst>
          </p:cNvPr>
          <p:cNvSpPr>
            <a:spLocks noGrp="1"/>
          </p:cNvSpPr>
          <p:nvPr>
            <p:ph type="title"/>
          </p:nvPr>
        </p:nvSpPr>
        <p:spPr/>
        <p:txBody>
          <a:bodyPr/>
          <a:lstStyle/>
          <a:p>
            <a:r>
              <a:rPr lang="en-GB" b="1" dirty="0"/>
              <a:t>Collaboration, Security, and Sync</a:t>
            </a:r>
          </a:p>
        </p:txBody>
      </p:sp>
      <p:sp>
        <p:nvSpPr>
          <p:cNvPr id="5" name="Текст 4">
            <a:extLst>
              <a:ext uri="{FF2B5EF4-FFF2-40B4-BE49-F238E27FC236}">
                <a16:creationId xmlns:a16="http://schemas.microsoft.com/office/drawing/2014/main" id="{0DE2E2D7-8A20-7E58-6D5B-C4A3980498D0}"/>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F587501D-7E1A-4698-6E2A-C07CAE3956D8}"/>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57E6574E-F2AB-343E-7CA3-20C40CCE6E94}"/>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11" name="Текст 3">
            <a:extLst>
              <a:ext uri="{FF2B5EF4-FFF2-40B4-BE49-F238E27FC236}">
                <a16:creationId xmlns:a16="http://schemas.microsoft.com/office/drawing/2014/main" id="{31486E21-DA9D-858C-E52B-217256F11277}"/>
              </a:ext>
            </a:extLst>
          </p:cNvPr>
          <p:cNvSpPr txBox="1">
            <a:spLocks/>
          </p:cNvSpPr>
          <p:nvPr/>
        </p:nvSpPr>
        <p:spPr>
          <a:xfrm>
            <a:off x="247967" y="3735800"/>
            <a:ext cx="7744095" cy="1794772"/>
          </a:xfrm>
          <a:prstGeom prst="rect">
            <a:avLst/>
          </a:prstGeom>
        </p:spPr>
        <p:txBody>
          <a:bodyPr vert="horz" lIns="0" tIns="0" rIns="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sz="2000" dirty="0"/>
          </a:p>
        </p:txBody>
      </p:sp>
      <p:pic>
        <p:nvPicPr>
          <p:cNvPr id="8" name="Picture 7" descr="A diagram of a website&#10;&#10;AI-generated content may be incorrect.">
            <a:extLst>
              <a:ext uri="{FF2B5EF4-FFF2-40B4-BE49-F238E27FC236}">
                <a16:creationId xmlns:a16="http://schemas.microsoft.com/office/drawing/2014/main" id="{C0ECE2DD-44F8-D6C1-6E7A-A0265AEEDCD4}"/>
              </a:ext>
            </a:extLst>
          </p:cNvPr>
          <p:cNvPicPr>
            <a:picLocks noChangeAspect="1"/>
          </p:cNvPicPr>
          <p:nvPr/>
        </p:nvPicPr>
        <p:blipFill>
          <a:blip r:embed="rId4"/>
          <a:stretch>
            <a:fillRect/>
          </a:stretch>
        </p:blipFill>
        <p:spPr>
          <a:xfrm>
            <a:off x="367662" y="2029917"/>
            <a:ext cx="11456676" cy="3756286"/>
          </a:xfrm>
          <a:prstGeom prst="rect">
            <a:avLst/>
          </a:prstGeom>
        </p:spPr>
      </p:pic>
    </p:spTree>
    <p:extLst>
      <p:ext uri="{BB962C8B-B14F-4D97-AF65-F5344CB8AC3E}">
        <p14:creationId xmlns:p14="http://schemas.microsoft.com/office/powerpoint/2010/main" val="3264988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0358663-72E7-7421-D314-C7BD4565444C}"/>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F4468E76-6E42-6DB9-6D73-2895AEA63C17}"/>
              </a:ext>
            </a:extLst>
          </p:cNvPr>
          <p:cNvSpPr>
            <a:spLocks noGrp="1"/>
          </p:cNvSpPr>
          <p:nvPr>
            <p:ph type="title"/>
          </p:nvPr>
        </p:nvSpPr>
        <p:spPr/>
        <p:txBody>
          <a:bodyPr/>
          <a:lstStyle/>
          <a:p>
            <a:r>
              <a:rPr lang="en-GB" b="1" dirty="0"/>
              <a:t>Functional Modules, Weather, and AI</a:t>
            </a:r>
          </a:p>
        </p:txBody>
      </p:sp>
      <p:sp>
        <p:nvSpPr>
          <p:cNvPr id="5" name="Текст 4">
            <a:extLst>
              <a:ext uri="{FF2B5EF4-FFF2-40B4-BE49-F238E27FC236}">
                <a16:creationId xmlns:a16="http://schemas.microsoft.com/office/drawing/2014/main" id="{E8938D89-BBA0-99E3-1475-00D45CE9B2DF}"/>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ACC95E88-2FC7-28F6-B2EC-F16FDCF6129D}"/>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0654283D-3E79-800A-3155-2524A214A0C9}"/>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11" name="Текст 3">
            <a:extLst>
              <a:ext uri="{FF2B5EF4-FFF2-40B4-BE49-F238E27FC236}">
                <a16:creationId xmlns:a16="http://schemas.microsoft.com/office/drawing/2014/main" id="{E0A8C846-0A1F-7545-3C0D-E7123FCF1995}"/>
              </a:ext>
            </a:extLst>
          </p:cNvPr>
          <p:cNvSpPr txBox="1">
            <a:spLocks/>
          </p:cNvSpPr>
          <p:nvPr/>
        </p:nvSpPr>
        <p:spPr>
          <a:xfrm>
            <a:off x="247967" y="3735800"/>
            <a:ext cx="7744095" cy="1794772"/>
          </a:xfrm>
          <a:prstGeom prst="rect">
            <a:avLst/>
          </a:prstGeom>
        </p:spPr>
        <p:txBody>
          <a:bodyPr vert="horz" lIns="0" tIns="0" rIns="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sz="2000" dirty="0"/>
          </a:p>
        </p:txBody>
      </p:sp>
      <p:pic>
        <p:nvPicPr>
          <p:cNvPr id="8" name="Picture 7" descr="A screenshot of a phone&#10;&#10;AI-generated content may be incorrect.">
            <a:extLst>
              <a:ext uri="{FF2B5EF4-FFF2-40B4-BE49-F238E27FC236}">
                <a16:creationId xmlns:a16="http://schemas.microsoft.com/office/drawing/2014/main" id="{A16FFCDA-B87F-E4CF-622E-06452DF419A8}"/>
              </a:ext>
            </a:extLst>
          </p:cNvPr>
          <p:cNvPicPr>
            <a:picLocks noChangeAspect="1"/>
          </p:cNvPicPr>
          <p:nvPr/>
        </p:nvPicPr>
        <p:blipFill>
          <a:blip r:embed="rId4"/>
          <a:stretch>
            <a:fillRect/>
          </a:stretch>
        </p:blipFill>
        <p:spPr>
          <a:xfrm>
            <a:off x="585898" y="1949241"/>
            <a:ext cx="2221444" cy="4526715"/>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89C51774-A811-B738-8CDC-02FDAAD1F0A9}"/>
              </a:ext>
            </a:extLst>
          </p:cNvPr>
          <p:cNvPicPr>
            <a:picLocks noChangeAspect="1"/>
          </p:cNvPicPr>
          <p:nvPr/>
        </p:nvPicPr>
        <p:blipFill>
          <a:blip r:embed="rId5"/>
          <a:stretch>
            <a:fillRect/>
          </a:stretch>
        </p:blipFill>
        <p:spPr>
          <a:xfrm>
            <a:off x="3145273" y="1949241"/>
            <a:ext cx="2221444" cy="4526716"/>
          </a:xfrm>
          <a:prstGeom prst="rect">
            <a:avLst/>
          </a:prstGeom>
        </p:spPr>
      </p:pic>
      <p:pic>
        <p:nvPicPr>
          <p:cNvPr id="13" name="Picture 12" descr="A screenshot of a weather forecast&#10;&#10;AI-generated content may be incorrect.">
            <a:extLst>
              <a:ext uri="{FF2B5EF4-FFF2-40B4-BE49-F238E27FC236}">
                <a16:creationId xmlns:a16="http://schemas.microsoft.com/office/drawing/2014/main" id="{026B767F-CC05-1BAD-B471-5A0D0321A4D6}"/>
              </a:ext>
            </a:extLst>
          </p:cNvPr>
          <p:cNvPicPr>
            <a:picLocks noChangeAspect="1"/>
          </p:cNvPicPr>
          <p:nvPr/>
        </p:nvPicPr>
        <p:blipFill>
          <a:blip r:embed="rId6"/>
          <a:stretch>
            <a:fillRect/>
          </a:stretch>
        </p:blipFill>
        <p:spPr>
          <a:xfrm>
            <a:off x="5704648" y="1949241"/>
            <a:ext cx="2221444" cy="4526716"/>
          </a:xfrm>
          <a:prstGeom prst="rect">
            <a:avLst/>
          </a:prstGeom>
        </p:spPr>
      </p:pic>
      <p:pic>
        <p:nvPicPr>
          <p:cNvPr id="15" name="Picture 14" descr="Screens screenshot of a phone&#10;&#10;AI-generated content may be incorrect.">
            <a:extLst>
              <a:ext uri="{FF2B5EF4-FFF2-40B4-BE49-F238E27FC236}">
                <a16:creationId xmlns:a16="http://schemas.microsoft.com/office/drawing/2014/main" id="{A6CBF273-E456-4DA0-9B09-3152750835F4}"/>
              </a:ext>
            </a:extLst>
          </p:cNvPr>
          <p:cNvPicPr>
            <a:picLocks noChangeAspect="1"/>
          </p:cNvPicPr>
          <p:nvPr/>
        </p:nvPicPr>
        <p:blipFill>
          <a:blip r:embed="rId7"/>
          <a:stretch>
            <a:fillRect/>
          </a:stretch>
        </p:blipFill>
        <p:spPr>
          <a:xfrm>
            <a:off x="8264023" y="1949240"/>
            <a:ext cx="2294793" cy="4526716"/>
          </a:xfrm>
          <a:prstGeom prst="rect">
            <a:avLst/>
          </a:prstGeom>
        </p:spPr>
      </p:pic>
    </p:spTree>
    <p:extLst>
      <p:ext uri="{BB962C8B-B14F-4D97-AF65-F5344CB8AC3E}">
        <p14:creationId xmlns:p14="http://schemas.microsoft.com/office/powerpoint/2010/main" val="1431247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EA29995-9D72-D5DD-83A0-CF964107952F}"/>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57514F-3E1C-D348-C144-999293A50251}"/>
              </a:ext>
            </a:extLst>
          </p:cNvPr>
          <p:cNvSpPr>
            <a:spLocks noGrp="1"/>
          </p:cNvSpPr>
          <p:nvPr>
            <p:ph type="title"/>
          </p:nvPr>
        </p:nvSpPr>
        <p:spPr/>
        <p:txBody>
          <a:bodyPr/>
          <a:lstStyle/>
          <a:p>
            <a:r>
              <a:rPr lang="en-GB" b="1" dirty="0"/>
              <a:t>Deployment and Publication</a:t>
            </a:r>
          </a:p>
        </p:txBody>
      </p:sp>
      <p:sp>
        <p:nvSpPr>
          <p:cNvPr id="5" name="Текст 4">
            <a:extLst>
              <a:ext uri="{FF2B5EF4-FFF2-40B4-BE49-F238E27FC236}">
                <a16:creationId xmlns:a16="http://schemas.microsoft.com/office/drawing/2014/main" id="{765C8E25-6875-0436-4FB5-CC7978C381E4}"/>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A5549C3B-7335-FA9F-23BA-F61E451A1219}"/>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D80B10C0-B44F-BB33-D1CD-364D5800EA5E}"/>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9" name="Текст 3">
            <a:extLst>
              <a:ext uri="{FF2B5EF4-FFF2-40B4-BE49-F238E27FC236}">
                <a16:creationId xmlns:a16="http://schemas.microsoft.com/office/drawing/2014/main" id="{E9DE3D97-37EE-3E43-0EE5-8D30E128904C}"/>
              </a:ext>
            </a:extLst>
          </p:cNvPr>
          <p:cNvSpPr>
            <a:spLocks noGrp="1"/>
          </p:cNvSpPr>
          <p:nvPr>
            <p:ph type="body" sz="quarter" idx="12"/>
          </p:nvPr>
        </p:nvSpPr>
        <p:spPr>
          <a:xfrm>
            <a:off x="585897" y="2224815"/>
            <a:ext cx="7744095" cy="3537158"/>
          </a:xfrm>
        </p:spPr>
        <p:txBody>
          <a:bodyPr>
            <a:normAutofit/>
          </a:bodyPr>
          <a:lstStyle/>
          <a:p>
            <a:pPr marL="285750" indent="-285750">
              <a:buFont typeface="Arial" panose="020B0604020202020204" pitchFamily="34" charset="0"/>
              <a:buChar char="•"/>
            </a:pPr>
            <a:r>
              <a:rPr lang="en-US" sz="2000" dirty="0"/>
              <a:t>Backend deployment on </a:t>
            </a:r>
            <a:r>
              <a:rPr lang="en-US" sz="2000" dirty="0" err="1"/>
              <a:t>Yandex.Cloud</a:t>
            </a:r>
            <a:endParaRPr lang="en-US" sz="2000" dirty="0"/>
          </a:p>
          <a:p>
            <a:pPr marL="285750" indent="-285750">
              <a:buFont typeface="Arial" panose="020B0604020202020204" pitchFamily="34" charset="0"/>
              <a:buChar char="•"/>
            </a:pPr>
            <a:r>
              <a:rPr lang="en-US" sz="2000" dirty="0"/>
              <a:t>Environment-based configuration</a:t>
            </a:r>
          </a:p>
          <a:p>
            <a:pPr marL="285750" indent="-285750">
              <a:buFont typeface="Arial" panose="020B0604020202020204" pitchFamily="34" charset="0"/>
              <a:buChar char="•"/>
            </a:pPr>
            <a:r>
              <a:rPr lang="en-US" sz="2000" dirty="0"/>
              <a:t>Logging and health monitoring</a:t>
            </a:r>
          </a:p>
          <a:p>
            <a:pPr marL="285750" indent="-285750">
              <a:buFont typeface="Arial" panose="020B0604020202020204" pitchFamily="34" charset="0"/>
              <a:buChar char="•"/>
            </a:pPr>
            <a:r>
              <a:rPr lang="en-US" sz="2000" dirty="0"/>
              <a:t>Android release configuration and signing</a:t>
            </a:r>
          </a:p>
          <a:p>
            <a:pPr marL="285750" indent="-285750">
              <a:buFont typeface="Arial" panose="020B0604020202020204" pitchFamily="34" charset="0"/>
              <a:buChar char="•"/>
            </a:pPr>
            <a:r>
              <a:rPr lang="en-US" sz="2000" dirty="0"/>
              <a:t>Planned publication in Google Play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4216459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258E61B-DD00-824B-C862-8605CF9E2E57}"/>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D72685D3-6699-BEFD-301E-D0452F19C9C2}"/>
              </a:ext>
            </a:extLst>
          </p:cNvPr>
          <p:cNvSpPr>
            <a:spLocks noGrp="1"/>
          </p:cNvSpPr>
          <p:nvPr>
            <p:ph type="title"/>
          </p:nvPr>
        </p:nvSpPr>
        <p:spPr/>
        <p:txBody>
          <a:bodyPr/>
          <a:lstStyle/>
          <a:p>
            <a:r>
              <a:rPr lang="en-GB" b="1" dirty="0"/>
              <a:t>Current Progress and Next Work</a:t>
            </a:r>
          </a:p>
        </p:txBody>
      </p:sp>
      <p:sp>
        <p:nvSpPr>
          <p:cNvPr id="5" name="Текст 4">
            <a:extLst>
              <a:ext uri="{FF2B5EF4-FFF2-40B4-BE49-F238E27FC236}">
                <a16:creationId xmlns:a16="http://schemas.microsoft.com/office/drawing/2014/main" id="{EF1F645C-C1B7-F927-0511-3DAE9C59142A}"/>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F306687A-8AE7-14B2-BD0F-0739859948A1}"/>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9D17746F-12CE-6077-E967-B2E46ACA1E96}"/>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9" name="Текст 3">
            <a:extLst>
              <a:ext uri="{FF2B5EF4-FFF2-40B4-BE49-F238E27FC236}">
                <a16:creationId xmlns:a16="http://schemas.microsoft.com/office/drawing/2014/main" id="{44A6D894-2F6C-0EED-F64E-A039BC31D294}"/>
              </a:ext>
            </a:extLst>
          </p:cNvPr>
          <p:cNvSpPr>
            <a:spLocks noGrp="1"/>
          </p:cNvSpPr>
          <p:nvPr>
            <p:ph type="body" sz="quarter" idx="12"/>
          </p:nvPr>
        </p:nvSpPr>
        <p:spPr>
          <a:xfrm>
            <a:off x="585897" y="2224815"/>
            <a:ext cx="7744095" cy="1794772"/>
          </a:xfrm>
        </p:spPr>
        <p:txBody>
          <a:bodyPr>
            <a:normAutofit/>
          </a:bodyPr>
          <a:lstStyle/>
          <a:p>
            <a:pPr marL="285750" indent="-285750">
              <a:buFont typeface="Arial" panose="020B0604020202020204" pitchFamily="34" charset="0"/>
              <a:buChar char="•"/>
            </a:pPr>
            <a:r>
              <a:rPr lang="en-US" sz="2000" b="1" dirty="0"/>
              <a:t>Implemented: </a:t>
            </a:r>
            <a:r>
              <a:rPr lang="en-US" sz="2000" dirty="0"/>
              <a:t>Android modules, backend routes, schema, WebSocket comments, sync worker</a:t>
            </a:r>
          </a:p>
          <a:p>
            <a:pPr marL="285750" indent="-285750">
              <a:buFont typeface="Arial" panose="020B0604020202020204" pitchFamily="34" charset="0"/>
              <a:buChar char="•"/>
            </a:pPr>
            <a:r>
              <a:rPr lang="en-US" sz="2000" b="1" dirty="0"/>
              <a:t>Remaining: </a:t>
            </a:r>
            <a:r>
              <a:rPr lang="en-US" sz="2000" dirty="0"/>
              <a:t>broader automated tests, sync edge-case hardening, release polishing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3605753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0598865-3FCE-D682-CC8E-5D3B57E0D918}"/>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706FE5C3-DA50-014A-0C0A-ABB185415C61}"/>
              </a:ext>
            </a:extLst>
          </p:cNvPr>
          <p:cNvSpPr>
            <a:spLocks noGrp="1"/>
          </p:cNvSpPr>
          <p:nvPr>
            <p:ph type="title"/>
          </p:nvPr>
        </p:nvSpPr>
        <p:spPr/>
        <p:txBody>
          <a:bodyPr/>
          <a:lstStyle/>
          <a:p>
            <a:r>
              <a:rPr lang="en-GB" b="1" dirty="0"/>
              <a:t>Expected Results</a:t>
            </a:r>
          </a:p>
        </p:txBody>
      </p:sp>
      <p:sp>
        <p:nvSpPr>
          <p:cNvPr id="5" name="Текст 4">
            <a:extLst>
              <a:ext uri="{FF2B5EF4-FFF2-40B4-BE49-F238E27FC236}">
                <a16:creationId xmlns:a16="http://schemas.microsoft.com/office/drawing/2014/main" id="{2CE286E4-7B0B-B58B-3D9D-47FFF16B1503}"/>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C326973B-7A72-BAD9-BFA9-C4EA510A85C1}"/>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BB529D8C-B73A-41E0-8EDC-400EC895AF79}"/>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2" name="Текст 3">
            <a:extLst>
              <a:ext uri="{FF2B5EF4-FFF2-40B4-BE49-F238E27FC236}">
                <a16:creationId xmlns:a16="http://schemas.microsoft.com/office/drawing/2014/main" id="{445ED369-1922-AF85-84A0-EBA9941F76C0}"/>
              </a:ext>
            </a:extLst>
          </p:cNvPr>
          <p:cNvSpPr>
            <a:spLocks noGrp="1"/>
          </p:cNvSpPr>
          <p:nvPr>
            <p:ph type="body" sz="quarter" idx="12"/>
          </p:nvPr>
        </p:nvSpPr>
        <p:spPr>
          <a:xfrm>
            <a:off x="585897" y="2224815"/>
            <a:ext cx="7744095" cy="3537158"/>
          </a:xfrm>
        </p:spPr>
        <p:txBody>
          <a:bodyPr>
            <a:normAutofit/>
          </a:bodyPr>
          <a:lstStyle/>
          <a:p>
            <a:pPr marL="285750" indent="-285750">
              <a:buFont typeface="Arial" panose="020B0604020202020204" pitchFamily="34" charset="0"/>
              <a:buChar char="•"/>
            </a:pPr>
            <a:r>
              <a:rPr lang="en-US" sz="2000" dirty="0"/>
              <a:t>A working Android application for collaborative trip planning</a:t>
            </a:r>
          </a:p>
          <a:p>
            <a:pPr marL="285750" indent="-285750">
              <a:buFont typeface="Arial" panose="020B0604020202020204" pitchFamily="34" charset="0"/>
              <a:buChar char="•"/>
            </a:pPr>
            <a:r>
              <a:rPr lang="en-US" sz="2000" dirty="0"/>
              <a:t>Shared trip management for several users</a:t>
            </a:r>
          </a:p>
          <a:p>
            <a:pPr marL="285750" indent="-285750">
              <a:buFont typeface="Arial" panose="020B0604020202020204" pitchFamily="34" charset="0"/>
              <a:buChar char="•"/>
            </a:pPr>
            <a:r>
              <a:rPr lang="en-US" sz="2000" dirty="0"/>
              <a:t>Ideas, comments, and itinerary planning in one workflow</a:t>
            </a:r>
          </a:p>
          <a:p>
            <a:pPr marL="285750" indent="-285750">
              <a:buFont typeface="Arial" panose="020B0604020202020204" pitchFamily="34" charset="0"/>
              <a:buChar char="•"/>
            </a:pPr>
            <a:r>
              <a:rPr lang="en-US" sz="2000" dirty="0"/>
              <a:t>Shared expenses with automatic balance calculation</a:t>
            </a:r>
          </a:p>
          <a:p>
            <a:pPr marL="285750" indent="-285750">
              <a:buFont typeface="Arial" panose="020B0604020202020204" pitchFamily="34" charset="0"/>
              <a:buChar char="•"/>
            </a:pPr>
            <a:r>
              <a:rPr lang="en-US" sz="2000" dirty="0"/>
              <a:t>Weather support and AI recommendations</a:t>
            </a:r>
          </a:p>
          <a:p>
            <a:pPr marL="285750" indent="-285750">
              <a:buFont typeface="Arial" panose="020B0604020202020204" pitchFamily="34" charset="0"/>
              <a:buChar char="•"/>
            </a:pPr>
            <a:r>
              <a:rPr lang="en-US" sz="2000" dirty="0"/>
              <a:t>Backend deployment and Google Play publication readiness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271618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DC2BDFF-B0B8-2E5B-705D-D5058864EBD0}"/>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5425D4B1-472E-7B66-EE81-F6557A60B5FF}"/>
              </a:ext>
            </a:extLst>
          </p:cNvPr>
          <p:cNvSpPr>
            <a:spLocks noGrp="1"/>
          </p:cNvSpPr>
          <p:nvPr>
            <p:ph type="title"/>
          </p:nvPr>
        </p:nvSpPr>
        <p:spPr/>
        <p:txBody>
          <a:bodyPr/>
          <a:lstStyle/>
          <a:p>
            <a:r>
              <a:rPr lang="en-GB" b="1" dirty="0"/>
              <a:t>Conclusion</a:t>
            </a:r>
          </a:p>
        </p:txBody>
      </p:sp>
      <p:sp>
        <p:nvSpPr>
          <p:cNvPr id="5" name="Текст 4">
            <a:extLst>
              <a:ext uri="{FF2B5EF4-FFF2-40B4-BE49-F238E27FC236}">
                <a16:creationId xmlns:a16="http://schemas.microsoft.com/office/drawing/2014/main" id="{CAF1687B-7F58-A10A-2956-A89E5109318D}"/>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122107D3-FFB1-68F0-102C-C8C1558B44F3}"/>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33ACDF0B-D238-0DA6-00EE-06C4C858952E}"/>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pic>
        <p:nvPicPr>
          <p:cNvPr id="4" name="Picture 3" descr="A screenshot of a computer&#10;&#10;AI-generated content may be incorrect.">
            <a:extLst>
              <a:ext uri="{FF2B5EF4-FFF2-40B4-BE49-F238E27FC236}">
                <a16:creationId xmlns:a16="http://schemas.microsoft.com/office/drawing/2014/main" id="{CEF543AE-B03B-46D4-DDE1-A34EED9A7C61}"/>
              </a:ext>
            </a:extLst>
          </p:cNvPr>
          <p:cNvPicPr>
            <a:picLocks noChangeAspect="1"/>
          </p:cNvPicPr>
          <p:nvPr/>
        </p:nvPicPr>
        <p:blipFill>
          <a:blip r:embed="rId4"/>
          <a:stretch>
            <a:fillRect/>
          </a:stretch>
        </p:blipFill>
        <p:spPr>
          <a:xfrm>
            <a:off x="1201117" y="1999962"/>
            <a:ext cx="9260681" cy="4202854"/>
          </a:xfrm>
          <a:prstGeom prst="rect">
            <a:avLst/>
          </a:prstGeom>
        </p:spPr>
      </p:pic>
    </p:spTree>
    <p:extLst>
      <p:ext uri="{BB962C8B-B14F-4D97-AF65-F5344CB8AC3E}">
        <p14:creationId xmlns:p14="http://schemas.microsoft.com/office/powerpoint/2010/main" val="2109046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EF47471-25AD-EAAC-9803-2862173F99C0}"/>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BF7D2EF9-BCD3-C28D-F48C-9A7AA57AA803}"/>
              </a:ext>
            </a:extLst>
          </p:cNvPr>
          <p:cNvSpPr>
            <a:spLocks noGrp="1"/>
          </p:cNvSpPr>
          <p:nvPr>
            <p:ph type="title"/>
          </p:nvPr>
        </p:nvSpPr>
        <p:spPr/>
        <p:txBody>
          <a:bodyPr/>
          <a:lstStyle/>
          <a:p>
            <a:r>
              <a:rPr lang="en-GB" b="1" dirty="0"/>
              <a:t>References</a:t>
            </a:r>
          </a:p>
        </p:txBody>
      </p:sp>
      <p:sp>
        <p:nvSpPr>
          <p:cNvPr id="5" name="Текст 4">
            <a:extLst>
              <a:ext uri="{FF2B5EF4-FFF2-40B4-BE49-F238E27FC236}">
                <a16:creationId xmlns:a16="http://schemas.microsoft.com/office/drawing/2014/main" id="{1A42F4B2-4332-6CE4-50D4-7ED44FBC494D}"/>
              </a:ext>
            </a:extLst>
          </p:cNvPr>
          <p:cNvSpPr>
            <a:spLocks noGrp="1"/>
          </p:cNvSpPr>
          <p:nvPr>
            <p:ph type="body" sz="quarter" idx="13"/>
          </p:nvPr>
        </p:nvSpPr>
        <p:spPr>
          <a:xfrm>
            <a:off x="1143689" y="540904"/>
            <a:ext cx="2015147" cy="415925"/>
          </a:xfrm>
        </p:spPr>
        <p:txBody>
          <a:bodyPr/>
          <a:lstStyle/>
          <a:p>
            <a:r>
              <a:rPr lang="en-US" dirty="0"/>
              <a:t>Faculty of Computer Science</a:t>
            </a:r>
          </a:p>
          <a:p>
            <a:r>
              <a:rPr lang="en-US" dirty="0"/>
              <a:t>Department of Software Engineering</a:t>
            </a:r>
            <a:endParaRPr lang="ru-RU" dirty="0"/>
          </a:p>
        </p:txBody>
      </p:sp>
      <p:sp>
        <p:nvSpPr>
          <p:cNvPr id="6" name="Текст 5">
            <a:extLst>
              <a:ext uri="{FF2B5EF4-FFF2-40B4-BE49-F238E27FC236}">
                <a16:creationId xmlns:a16="http://schemas.microsoft.com/office/drawing/2014/main" id="{7750B043-3F4B-50FA-3264-E85051E875DE}"/>
              </a:ext>
            </a:extLst>
          </p:cNvPr>
          <p:cNvSpPr>
            <a:spLocks noGrp="1"/>
          </p:cNvSpPr>
          <p:nvPr>
            <p:ph type="body" sz="quarter" idx="14"/>
          </p:nvPr>
        </p:nvSpPr>
        <p:spPr/>
        <p:txBody>
          <a:bodyPr/>
          <a:lstStyle/>
          <a:p>
            <a:r>
              <a:rPr lang="en-US" dirty="0"/>
              <a:t>Ilya Novik</a:t>
            </a:r>
          </a:p>
          <a:p>
            <a:r>
              <a:rPr lang="en-US" dirty="0" err="1"/>
              <a:t>iinovik@edu.hse.ru</a:t>
            </a:r>
            <a:endParaRPr lang="ru-RU" dirty="0"/>
          </a:p>
        </p:txBody>
      </p:sp>
      <p:sp>
        <p:nvSpPr>
          <p:cNvPr id="7" name="Текст 6">
            <a:extLst>
              <a:ext uri="{FF2B5EF4-FFF2-40B4-BE49-F238E27FC236}">
                <a16:creationId xmlns:a16="http://schemas.microsoft.com/office/drawing/2014/main" id="{87001BF3-CF9E-5A2D-0367-EC341CADAD3B}"/>
              </a:ext>
            </a:extLst>
          </p:cNvPr>
          <p:cNvSpPr>
            <a:spLocks noGrp="1"/>
          </p:cNvSpPr>
          <p:nvPr>
            <p:ph type="body" sz="quarter" idx="15"/>
          </p:nvPr>
        </p:nvSpPr>
        <p:spPr/>
        <p:txBody>
          <a:bodyPr/>
          <a:lstStyle/>
          <a:p>
            <a:r>
              <a:rPr lang="en-GB" dirty="0"/>
              <a:t>Android Application</a:t>
            </a:r>
            <a:br>
              <a:rPr lang="ru-RU" dirty="0"/>
            </a:br>
            <a:r>
              <a:rPr lang="en-GB" dirty="0"/>
              <a:t>for Collaborative Trip Planning</a:t>
            </a:r>
            <a:endParaRPr lang="ru-RU" dirty="0"/>
          </a:p>
        </p:txBody>
      </p:sp>
      <p:sp>
        <p:nvSpPr>
          <p:cNvPr id="9" name="Текст 3">
            <a:extLst>
              <a:ext uri="{FF2B5EF4-FFF2-40B4-BE49-F238E27FC236}">
                <a16:creationId xmlns:a16="http://schemas.microsoft.com/office/drawing/2014/main" id="{00177E73-AAC3-51E3-F4F5-28B79C3818E7}"/>
              </a:ext>
            </a:extLst>
          </p:cNvPr>
          <p:cNvSpPr>
            <a:spLocks noGrp="1"/>
          </p:cNvSpPr>
          <p:nvPr>
            <p:ph type="body" sz="quarter" idx="12"/>
          </p:nvPr>
        </p:nvSpPr>
        <p:spPr>
          <a:xfrm>
            <a:off x="585897" y="2224815"/>
            <a:ext cx="5245561" cy="4295906"/>
          </a:xfrm>
        </p:spPr>
        <p:txBody>
          <a:bodyPr>
            <a:normAutofit/>
          </a:bodyPr>
          <a:lstStyle/>
          <a:p>
            <a:pPr marL="285750" indent="-285750">
              <a:buFont typeface="Arial" panose="020B0604020202020204" pitchFamily="34" charset="0"/>
              <a:buChar char="•"/>
            </a:pPr>
            <a:r>
              <a:rPr lang="en-US" sz="1600" dirty="0"/>
              <a:t>[1] </a:t>
            </a:r>
            <a:r>
              <a:rPr lang="en-US" sz="1600" dirty="0" err="1"/>
              <a:t>Splitwise</a:t>
            </a:r>
            <a:r>
              <a:rPr lang="en-US" sz="1600" dirty="0"/>
              <a:t>. https://</a:t>
            </a:r>
            <a:r>
              <a:rPr lang="en-US" sz="1600" dirty="0" err="1"/>
              <a:t>www.splitwise.com</a:t>
            </a:r>
            <a:r>
              <a:rPr lang="en-US" sz="1600" dirty="0"/>
              <a:t>/</a:t>
            </a:r>
          </a:p>
          <a:p>
            <a:pPr marL="285750" indent="-285750">
              <a:buFont typeface="Arial" panose="020B0604020202020204" pitchFamily="34" charset="0"/>
              <a:buChar char="•"/>
            </a:pPr>
            <a:r>
              <a:rPr lang="en-US" sz="1600" dirty="0"/>
              <a:t>[2] </a:t>
            </a:r>
            <a:r>
              <a:rPr lang="en-US" sz="1600" dirty="0" err="1"/>
              <a:t>Wanderlog</a:t>
            </a:r>
            <a:r>
              <a:rPr lang="en-US" sz="1600" dirty="0"/>
              <a:t>. https://</a:t>
            </a:r>
            <a:r>
              <a:rPr lang="en-US" sz="1600" dirty="0" err="1"/>
              <a:t>wanderlog.com</a:t>
            </a:r>
            <a:r>
              <a:rPr lang="en-US" sz="1600" dirty="0"/>
              <a:t>/</a:t>
            </a:r>
          </a:p>
          <a:p>
            <a:pPr marL="285750" indent="-285750">
              <a:buFont typeface="Arial" panose="020B0604020202020204" pitchFamily="34" charset="0"/>
              <a:buChar char="•"/>
            </a:pPr>
            <a:r>
              <a:rPr lang="en-US" sz="1600" dirty="0"/>
              <a:t>[3] </a:t>
            </a:r>
            <a:r>
              <a:rPr lang="en-US" sz="1600" dirty="0" err="1"/>
              <a:t>TravelSpend</a:t>
            </a:r>
            <a:r>
              <a:rPr lang="en-US" sz="1600" dirty="0"/>
              <a:t>. https://travel-</a:t>
            </a:r>
            <a:r>
              <a:rPr lang="en-US" sz="1600" dirty="0" err="1"/>
              <a:t>spend.com</a:t>
            </a:r>
            <a:r>
              <a:rPr lang="en-US" sz="1600" dirty="0"/>
              <a:t>/</a:t>
            </a:r>
          </a:p>
          <a:p>
            <a:pPr marL="285750" indent="-285750">
              <a:buFont typeface="Arial" panose="020B0604020202020204" pitchFamily="34" charset="0"/>
              <a:buChar char="•"/>
            </a:pPr>
            <a:r>
              <a:rPr lang="en-US" sz="1600" dirty="0"/>
              <a:t>[4] TripIt. https://</a:t>
            </a:r>
            <a:r>
              <a:rPr lang="en-US" sz="1600" dirty="0" err="1"/>
              <a:t>www.tripit.com</a:t>
            </a:r>
            <a:r>
              <a:rPr lang="en-US" sz="1600" dirty="0"/>
              <a:t>/</a:t>
            </a:r>
          </a:p>
          <a:p>
            <a:pPr marL="285750" indent="-285750">
              <a:buFont typeface="Arial" panose="020B0604020202020204" pitchFamily="34" charset="0"/>
              <a:buChar char="•"/>
            </a:pPr>
            <a:r>
              <a:rPr lang="en-US" sz="1600" dirty="0"/>
              <a:t>[5] Yandex, "Yandex Travel Simplifies Joint Trips," 2025. https://</a:t>
            </a:r>
            <a:r>
              <a:rPr lang="en-US" sz="1600" dirty="0" err="1"/>
              <a:t>yandex.ru</a:t>
            </a:r>
            <a:r>
              <a:rPr lang="en-US" sz="1600" dirty="0"/>
              <a:t>/company/news/01-03-04-2025</a:t>
            </a:r>
          </a:p>
          <a:p>
            <a:pPr marL="285750" indent="-285750">
              <a:buFont typeface="Arial" panose="020B0604020202020204" pitchFamily="34" charset="0"/>
              <a:buChar char="•"/>
            </a:pPr>
            <a:r>
              <a:rPr lang="en-US" sz="1600" dirty="0"/>
              <a:t>[6] Google Play, "RUSSPASS." https://</a:t>
            </a:r>
            <a:r>
              <a:rPr lang="en-US" sz="1600" dirty="0" err="1"/>
              <a:t>play.google.com</a:t>
            </a:r>
            <a:r>
              <a:rPr lang="en-US" sz="1600" dirty="0"/>
              <a:t>/store/apps/</a:t>
            </a:r>
            <a:br>
              <a:rPr lang="en-US" sz="1600" dirty="0"/>
            </a:br>
            <a:r>
              <a:rPr lang="en-US" sz="1600" dirty="0" err="1"/>
              <a:t>details?id</a:t>
            </a:r>
            <a:r>
              <a:rPr lang="en-US" sz="1600" dirty="0"/>
              <a:t>=</a:t>
            </a:r>
            <a:r>
              <a:rPr lang="en-US" sz="1600" dirty="0" err="1"/>
              <a:t>ru.russpass.tourist</a:t>
            </a:r>
            <a:endParaRPr lang="en-US" sz="1600" dirty="0"/>
          </a:p>
          <a:p>
            <a:pPr marL="285750" indent="-285750">
              <a:buFont typeface="Arial" panose="020B0604020202020204" pitchFamily="34" charset="0"/>
              <a:buChar char="•"/>
            </a:pPr>
            <a:r>
              <a:rPr lang="en-US" sz="1600" dirty="0"/>
              <a:t>[7] </a:t>
            </a:r>
            <a:r>
              <a:rPr lang="en-US" sz="1600" dirty="0" err="1"/>
              <a:t>Ktor</a:t>
            </a:r>
            <a:r>
              <a:rPr lang="en-US" sz="1600" dirty="0"/>
              <a:t> Docs. https://</a:t>
            </a:r>
            <a:r>
              <a:rPr lang="en-US" sz="1600" dirty="0" err="1"/>
              <a:t>ktor.io</a:t>
            </a:r>
            <a:r>
              <a:rPr lang="en-US" sz="1600" dirty="0"/>
              <a:t>/docs/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
        <p:nvSpPr>
          <p:cNvPr id="2" name="Текст 3">
            <a:extLst>
              <a:ext uri="{FF2B5EF4-FFF2-40B4-BE49-F238E27FC236}">
                <a16:creationId xmlns:a16="http://schemas.microsoft.com/office/drawing/2014/main" id="{06F17A0B-7ADC-7F15-861B-86DC15070460}"/>
              </a:ext>
            </a:extLst>
          </p:cNvPr>
          <p:cNvSpPr txBox="1">
            <a:spLocks/>
          </p:cNvSpPr>
          <p:nvPr/>
        </p:nvSpPr>
        <p:spPr>
          <a:xfrm>
            <a:off x="6096000" y="2224815"/>
            <a:ext cx="5510103" cy="4295906"/>
          </a:xfrm>
          <a:prstGeom prst="rect">
            <a:avLst/>
          </a:prstGeom>
        </p:spPr>
        <p:txBody>
          <a:bodyPr vert="horz" lIns="0" tIns="0" rIns="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t>[8] Kotlin Docs. https://</a:t>
            </a:r>
            <a:r>
              <a:rPr lang="en-US" sz="1600" dirty="0" err="1"/>
              <a:t>kotlinlang.org</a:t>
            </a:r>
            <a:r>
              <a:rPr lang="en-US" sz="1600" dirty="0"/>
              <a:t>/docs/</a:t>
            </a:r>
          </a:p>
          <a:p>
            <a:pPr marL="285750" indent="-285750">
              <a:buFont typeface="Arial" panose="020B0604020202020204" pitchFamily="34" charset="0"/>
              <a:buChar char="•"/>
            </a:pPr>
            <a:r>
              <a:rPr lang="en-US" sz="1600" dirty="0"/>
              <a:t>[9] Jetpack Compose Docs. https://</a:t>
            </a:r>
            <a:r>
              <a:rPr lang="en-US" sz="1600" dirty="0" err="1"/>
              <a:t>developer.android.com</a:t>
            </a:r>
            <a:r>
              <a:rPr lang="en-US" sz="1600" dirty="0"/>
              <a:t>/compose</a:t>
            </a:r>
          </a:p>
          <a:p>
            <a:pPr marL="285750" indent="-285750">
              <a:buFont typeface="Arial" panose="020B0604020202020204" pitchFamily="34" charset="0"/>
              <a:buChar char="•"/>
            </a:pPr>
            <a:r>
              <a:rPr lang="en-US" sz="1600" dirty="0"/>
              <a:t>[10] Hilt Docs. https://</a:t>
            </a:r>
            <a:r>
              <a:rPr lang="en-US" sz="1600" dirty="0" err="1"/>
              <a:t>developer.android.com</a:t>
            </a:r>
            <a:r>
              <a:rPr lang="en-US" sz="1600" dirty="0"/>
              <a:t>/training/dependency-injection/hilt-android</a:t>
            </a:r>
          </a:p>
          <a:p>
            <a:pPr marL="285750" indent="-285750">
              <a:buFont typeface="Arial" panose="020B0604020202020204" pitchFamily="34" charset="0"/>
              <a:buChar char="•"/>
            </a:pPr>
            <a:r>
              <a:rPr lang="en-US" sz="1600" dirty="0"/>
              <a:t>[11] Retrofit Docs. https://</a:t>
            </a:r>
            <a:r>
              <a:rPr lang="en-US" sz="1600" dirty="0" err="1"/>
              <a:t>square.github.io</a:t>
            </a:r>
            <a:r>
              <a:rPr lang="en-US" sz="1600" dirty="0"/>
              <a:t>/retrofit/</a:t>
            </a:r>
          </a:p>
          <a:p>
            <a:pPr marL="285750" indent="-285750">
              <a:buFont typeface="Arial" panose="020B0604020202020204" pitchFamily="34" charset="0"/>
              <a:buChar char="•"/>
            </a:pPr>
            <a:r>
              <a:rPr lang="en-US" sz="1600" dirty="0"/>
              <a:t>[12] </a:t>
            </a:r>
            <a:r>
              <a:rPr lang="en-US" sz="1600" dirty="0" err="1"/>
              <a:t>OpenWeather</a:t>
            </a:r>
            <a:r>
              <a:rPr lang="en-US" sz="1600" dirty="0"/>
              <a:t> API. https://</a:t>
            </a:r>
            <a:r>
              <a:rPr lang="en-US" sz="1600" dirty="0" err="1"/>
              <a:t>openweathermap.org</a:t>
            </a:r>
            <a:r>
              <a:rPr lang="en-US" sz="1600" dirty="0"/>
              <a:t>/</a:t>
            </a:r>
            <a:r>
              <a:rPr lang="en-US" sz="1600" dirty="0" err="1"/>
              <a:t>api</a:t>
            </a:r>
            <a:endParaRPr lang="en-US" sz="1600" dirty="0"/>
          </a:p>
          <a:p>
            <a:pPr marL="285750" indent="-285750">
              <a:buFont typeface="Arial" panose="020B0604020202020204" pitchFamily="34" charset="0"/>
              <a:buChar char="•"/>
            </a:pPr>
            <a:r>
              <a:rPr lang="en-US" sz="1600" dirty="0"/>
              <a:t>[13] </a:t>
            </a:r>
            <a:r>
              <a:rPr lang="en-US" sz="1600" dirty="0" err="1"/>
              <a:t>YandexGPT</a:t>
            </a:r>
            <a:r>
              <a:rPr lang="en-US" sz="1600" dirty="0"/>
              <a:t> Docs. https://</a:t>
            </a:r>
            <a:r>
              <a:rPr lang="en-US" sz="1600" dirty="0" err="1"/>
              <a:t>yandex.cloud</a:t>
            </a:r>
            <a:r>
              <a:rPr lang="en-US" sz="1600" dirty="0"/>
              <a:t>/</a:t>
            </a:r>
            <a:r>
              <a:rPr lang="en-US" sz="1600" dirty="0" err="1"/>
              <a:t>en</a:t>
            </a:r>
            <a:r>
              <a:rPr lang="en-US" sz="1600" dirty="0"/>
              <a:t>/docs/ai-studio/concepts/generation/models</a:t>
            </a:r>
          </a:p>
          <a:p>
            <a:pPr marL="285750" indent="-285750">
              <a:buFont typeface="Arial" panose="020B0604020202020204" pitchFamily="34" charset="0"/>
              <a:buChar char="•"/>
            </a:pPr>
            <a:r>
              <a:rPr lang="en-US" sz="1600" dirty="0"/>
              <a:t>[14] Google Play Distribution Docs. https://</a:t>
            </a:r>
            <a:r>
              <a:rPr lang="en-US" sz="1600" dirty="0" err="1"/>
              <a:t>developer.android.com</a:t>
            </a:r>
            <a:r>
              <a:rPr lang="en-US" sz="1600" dirty="0"/>
              <a:t>/distribute/google-play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2127993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1A4BCF-E5AB-419C-B424-5A1AB995A14B}"/>
              </a:ext>
            </a:extLst>
          </p:cNvPr>
          <p:cNvSpPr txBox="1"/>
          <p:nvPr/>
        </p:nvSpPr>
        <p:spPr>
          <a:xfrm>
            <a:off x="2402200" y="1246909"/>
            <a:ext cx="7387600" cy="769441"/>
          </a:xfrm>
          <a:prstGeom prst="rect">
            <a:avLst/>
          </a:prstGeom>
          <a:noFill/>
        </p:spPr>
        <p:txBody>
          <a:bodyPr wrap="none" rtlCol="0">
            <a:spAutoFit/>
          </a:bodyPr>
          <a:lstStyle/>
          <a:p>
            <a:pPr algn="l"/>
            <a:r>
              <a:rPr lang="en-US" sz="4400" b="1" dirty="0">
                <a:solidFill>
                  <a:schemeClr val="bg1"/>
                </a:solidFill>
                <a:latin typeface="HSE Sans" panose="02000000000000000000" pitchFamily="2" charset="0"/>
              </a:rPr>
              <a:t>Thank you for your attention</a:t>
            </a:r>
            <a:r>
              <a:rPr lang="ru-RU" sz="4400" b="1" dirty="0">
                <a:solidFill>
                  <a:schemeClr val="bg1"/>
                </a:solidFill>
                <a:latin typeface="HSE Sans" panose="02000000000000000000" pitchFamily="2" charset="0"/>
              </a:rPr>
              <a:t>!</a:t>
            </a:r>
          </a:p>
        </p:txBody>
      </p:sp>
      <p:sp>
        <p:nvSpPr>
          <p:cNvPr id="3" name="TextBox 2">
            <a:extLst>
              <a:ext uri="{FF2B5EF4-FFF2-40B4-BE49-F238E27FC236}">
                <a16:creationId xmlns:a16="http://schemas.microsoft.com/office/drawing/2014/main" id="{0CA27430-8399-4D96-B400-AA6341B7A21B}"/>
              </a:ext>
            </a:extLst>
          </p:cNvPr>
          <p:cNvSpPr txBox="1"/>
          <p:nvPr/>
        </p:nvSpPr>
        <p:spPr>
          <a:xfrm>
            <a:off x="4589018" y="4841651"/>
            <a:ext cx="3013967" cy="954107"/>
          </a:xfrm>
          <a:prstGeom prst="rect">
            <a:avLst/>
          </a:prstGeom>
          <a:noFill/>
        </p:spPr>
        <p:txBody>
          <a:bodyPr wrap="none" rtlCol="0">
            <a:spAutoFit/>
          </a:bodyPr>
          <a:lstStyle/>
          <a:p>
            <a:pPr algn="ctr"/>
            <a:r>
              <a:rPr lang="en-US" sz="2800" dirty="0">
                <a:solidFill>
                  <a:schemeClr val="bg1"/>
                </a:solidFill>
                <a:latin typeface="HSE Sans" panose="02000000000000000000" pitchFamily="2" charset="0"/>
              </a:rPr>
              <a:t>Ilya Novik</a:t>
            </a:r>
          </a:p>
          <a:p>
            <a:pPr algn="ctr"/>
            <a:r>
              <a:rPr lang="en-US" sz="2800" dirty="0" err="1">
                <a:solidFill>
                  <a:schemeClr val="bg1"/>
                </a:solidFill>
                <a:latin typeface="HSE Sans" panose="02000000000000000000" pitchFamily="2" charset="0"/>
              </a:rPr>
              <a:t>iinovik@edu.hse.ru</a:t>
            </a:r>
            <a:endParaRPr lang="ru-RU" sz="2800" dirty="0">
              <a:solidFill>
                <a:schemeClr val="bg1"/>
              </a:solidFill>
              <a:latin typeface="HSE Sans" panose="02000000000000000000" pitchFamily="2" charset="0"/>
            </a:endParaRPr>
          </a:p>
        </p:txBody>
      </p:sp>
    </p:spTree>
    <p:extLst>
      <p:ext uri="{BB962C8B-B14F-4D97-AF65-F5344CB8AC3E}">
        <p14:creationId xmlns:p14="http://schemas.microsoft.com/office/powerpoint/2010/main" val="3745687778"/>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D5759C9-B582-42B4-ABB2-EE10B35E5A1E}">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4A1EBCF-EB08-4AB8-A545-6BE6FE97C1CB}">
  <we:reference id="wa200003220" version="1.0.0.0" store="en-US" storeType="OMEX"/>
  <we:alternateReferences>
    <we:reference id="wa200003220" version="1.0.0.0" store="WA200003220"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2.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3.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5896</TotalTime>
  <Words>1778</Words>
  <Application>Microsoft Macintosh PowerPoint</Application>
  <PresentationFormat>Widescreen</PresentationFormat>
  <Paragraphs>235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HSE Sans</vt:lpstr>
      <vt:lpstr>Office Theme</vt:lpstr>
      <vt:lpstr>Android Application for Collaborative Trip Planning</vt:lpstr>
      <vt:lpstr>The problem</vt:lpstr>
      <vt:lpstr>Stakeholders and User Needs</vt:lpstr>
      <vt:lpstr>Existing Solutions and Gap</vt:lpstr>
      <vt:lpstr>Proposed Solution</vt:lpstr>
      <vt:lpstr>System Architecture</vt:lpstr>
      <vt:lpstr>Technology Stack</vt:lpstr>
      <vt:lpstr>Collaboration, Security, and Sync</vt:lpstr>
      <vt:lpstr>Functional Modules, Weather, and AI</vt:lpstr>
      <vt:lpstr>Deployment and Publication</vt:lpstr>
      <vt:lpstr>Current Progress and Next Work</vt:lpstr>
      <vt:lpstr>Expected Results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Microsoft Office User</cp:lastModifiedBy>
  <cp:revision>167</cp:revision>
  <cp:lastPrinted>2021-11-11T13:08:42Z</cp:lastPrinted>
  <dcterms:created xsi:type="dcterms:W3CDTF">2021-11-11T08:52:47Z</dcterms:created>
  <dcterms:modified xsi:type="dcterms:W3CDTF">2026-03-13T10:04:50Z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